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hqU+atqOPYgJi1d4/3kmKcnYHr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Kính chào thầy cô. Em xin trình bày đề tài “Xây dựng website mua bán đồ gốm sứ qua sử dụng”. Mục tiêu của đề tài là xây dựng một prototype thương mại điện tử chuyên biệt cho nhóm sản phẩm gốm sứ cũ. Hệ thống không chỉ có các trang dành cho khách mua hàng như trang chủ, cửa hàng, chi tiết sản phẩm, giỏ hàng và thanh toán, mà còn có khu vực quản trị để quản lý sản phẩm, đơn hàng, khách hàng, danh mục và báo cáo. Về dữ liệu, đề tài thiết kế database trên Supabase PostgreSQL theo ERD gồm 8 bảng lõi. Trong khoảng 15 phút, em sẽ trình bày lý do chọn đề tài, phân tích bài toán, sitemap, giao diện, kiến trúc kỹ thuật, database, kết quả đạt được và hướng phát triển.</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 name="Google Shape;3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Lý do em chọn đề tài xuất phát từ thực tế: thị trường mua bán đồ đã qua sử dụng ngày càng phổ biến, trong đó đồ gốm sứ là nhóm sản phẩm có giá trị thẩm mỹ và đôi khi có giá trị sưu tầm. Tuy nhiên, nếu chỉ mua bán qua bài đăng rời rạc trên mạng xã hội, người mua khó kiểm tra đầy đủ thông tin như tình trạng men, vết nứt, số lượng tồn, giá bán hay lịch sử giao dịch. Người bán cũng khó quản lý sản phẩm và đơn hàng một cách có hệ thống. Vì vậy, đề tài hướng đến một website chuyên biệt, giúp sản phẩm được trình bày rõ ràng, người mua có luồng thao tác dễ hiểu, còn quản trị viên có công cụ quản lý vận hành cơ bản.</a:t>
            </a:r>
            <a:endParaRPr/>
          </a:p>
        </p:txBody>
      </p:sp>
      <p:sp>
        <p:nvSpPr>
          <p:cNvPr id="39" name="Google Shape;3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Về mục tiêu, đề tài không đặt nặng việc triển khai toàn bộ quy trình thương mại điện tử thực tế như thanh toán online hay vận chuyển. Trọng tâm là xây dựng nền tảng: một là giao diện public cho khách hàng, hai là khu vực admin cho người quản trị, ba là cơ sở dữ liệu có quan hệ rõ ràng trên Supabase. Phần public gồm trang chủ, cửa hàng, chi tiết sản phẩm, giỏ hàng, thanh toán, tài khoản và blog. Phần admin gồm dashboard, quản lý sản phẩm, đơn hàng, khách hàng, danh mục và các báo cáo cơ bản. Các phần như upload ảnh thật, đăng nhập phân quyền hoàn chỉnh và tích hợp thanh toán được xem là hướng phát triển sau.</a:t>
            </a:r>
            <a:endParaRPr/>
          </a:p>
        </p:txBody>
      </p:sp>
      <p:sp>
        <p:nvSpPr>
          <p:cNvPr id="70" name="Google Shape;7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Đây là sitemap của hệ thống. Phía trên là nhóm trang dành cho khách hàng, bắt đầu từ trang chủ rồi đi tới cửa hàng, danh sách sản phẩm, chi tiết sản phẩm, giỏ hàng, thanh toán và xác nhận đơn hàng. Nhánh tài khoản có đăng nhập, đăng ký, hồ sơ cá nhân và lịch sử đơn hàng. Nhánh blog dùng để đăng các bài viết về kinh nghiệm chọn gốm. Phía dưới là khu vực quản trị, bắt đầu từ đăng nhập admin, sau đó vào dashboard và các module quản lý sản phẩm, đơn hàng, khách hàng, thống kê và danh mục. Sitemap này là cơ sở để em xây dựng route frontend và chia chức năng trong báo cáo.</a:t>
            </a:r>
            <a:endParaRPr/>
          </a:p>
        </p:txBody>
      </p:sp>
      <p:sp>
        <p:nvSpPr>
          <p:cNvPr id="91" name="Google Shape;9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Luồng mua hàng được thiết kế theo 5 bước. Đầu tiên khách hàng khám phá sản phẩm ở trang chủ hoặc đọc blog để có thêm kinh nghiệm chọn gốm. Bước thứ hai là tìm kiếm và lọc sản phẩm trong trang cửa hàng. Bước thứ ba là đánh giá sản phẩm ở trang chi tiết, nơi có các thông tin quan trọng như giá, tình trạng, mô tả và tồn kho. Bước thứ tư là đưa sản phẩm vào giỏ hàng và thanh toán. Bước cuối là theo dõi thông tin đơn hàng trong tài khoản. Điểm đặc biệt của đồ gốm sứ cũ là mỗi sản phẩm có thể có tình trạng khác nhau, nên trang chi tiết sản phẩm đóng vai trò rất quan trọng trong việc tạo niềm tin.</a:t>
            </a:r>
            <a:endParaRPr/>
          </a:p>
        </p:txBody>
      </p:sp>
      <p:sp>
        <p:nvSpPr>
          <p:cNvPr id="101" name="Google Shape;10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Ở phần giao diện public, em tập trung vào sự rõ ràng và dễ thao tác. Trang chủ có phần giới thiệu cửa hàng, nút đi tới cửa hàng, sản phẩm nổi bật và các khối nội dung hỗ trợ. Mục tiêu của trang chủ là giúp người dùng hiểu ngay website bán gì và có thể bắt đầu mua hàng nhanh. Trang cửa hàng có ô tìm kiếm, bộ lọc danh mục, sắp xếp và danh sách sản phẩm. Các sản phẩm được trình bày dạng thẻ để người dùng dễ quét thông tin như tên sản phẩm, mô tả ngắn và giá bán.</a:t>
            </a:r>
            <a:endParaRPr/>
          </a:p>
        </p:txBody>
      </p:sp>
      <p:sp>
        <p:nvSpPr>
          <p:cNvPr id="132" name="Google Shape;13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Sau khi người dùng chọn sản phẩm, hai trang quan trọng là chi tiết sản phẩm và thanh toán. Trang chi tiết sản phẩm trình bày hình ảnh, tên sản phẩm, giá, mô tả, tình trạng và các nút thao tác như thêm vào giỏ hoặc mua ngay. Với sản phẩm đã qua sử dụng, thông tin tình trạng rất quan trọng vì người mua cần biết sản phẩm còn tốt ở mức nào. Trang thanh toán được chia thành hai phần: bên trái là thông tin giao hàng, bên phải là tóm tắt đơn hàng. Cách bố trí này giúp người dùng kiểm tra lại đơn trước khi xác nhận.</a:t>
            </a:r>
            <a:endParaRPr/>
          </a:p>
        </p:txBody>
      </p:sp>
      <p:sp>
        <p:nvSpPr>
          <p:cNvPr id="145" name="Google Shape;145;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Khu vực admin hỗ trợ người quản trị vận hành website. Dashboard hiển thị các chỉ số tóm tắt như doanh thu, số đơn hàng, số sản phẩm và tồn kho. Bên cạnh dashboard, admin còn có các module quản lý sản phẩm, đơn hàng, khách hàng, danh mục và báo cáo. Với phạm vi đồ án, dữ liệu đang là dữ liệu mẫu, nhưng cấu trúc giao diện đã chuẩn bị cho việc kết nối database thật. Mục tiêu của admin là giúp người bán không chỉ đăng sản phẩm mà còn theo dõi được trạng thái kinh doanh và tồn kho.</a:t>
            </a:r>
            <a:endParaRPr/>
          </a:p>
        </p:txBody>
      </p:sp>
      <p:sp>
        <p:nvSpPr>
          <p:cNvPr id="160" name="Google Shape;16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Về kiến trúc, hệ thống được chia thành frontend và database. Frontend sử dụng Next.js, TypeScript và Tailwind CSS để xây dựng các trang theo sitemap. Các component dùng chung như CeramicShell, ProductCard và AdminShell giúp giao diện nhất quán giữa các trang. Phần database dùng Supabase PostgreSQL để lưu dữ liệu nghiệp vụ. Các migration tạo enum, khóa ngoại, index, bật Row Level Security và seed dữ liệu mẫu. Trong giai đoạn hiện tại, frontend đang dùng dữ liệu mẫu cục bộ để hoàn thiện trải nghiệm, nhưng schema Supabase đã được thiết kế để kết nối dữ liệu thật ở giai đoạn sau.</a:t>
            </a:r>
            <a:endParaRPr/>
          </a:p>
        </p:txBody>
      </p:sp>
      <p:sp>
        <p:nvSpPr>
          <p:cNvPr id="183" name="Google Shape;18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Sơ đồ ERD gồm 8 bảng chính. Bảng nguoi_dung lưu thông tin khách hàng và quản trị viên. Bảng danh_muc phân loại sản phẩm, có hỗ trợ danh mục cha con. Bảng san_pham lưu thông tin tên, mô tả, giá, số lượng tồn, hình ảnh và tình trạng. Khi khách hàng đặt hàng, dữ liệu đi vào bảng don_hang và chi_tiet_don_hang. Bảng thanh_toan lưu phương thức và trạng thái thanh toán. Bảng danh_gia cho phép người dùng đánh giá sản phẩm. Bảng nhap_kho lưu lịch sử nhập kho. Các quan hệ khóa ngoại giúp hạn chế dữ liệu mồ côi và đảm bảo truy vấn đơn hàng, sản phẩm, khách hàng được nhất quán.</a:t>
            </a:r>
            <a:endParaRPr/>
          </a:p>
        </p:txBody>
      </p:sp>
      <p:sp>
        <p:nvSpPr>
          <p:cNvPr id="209" name="Google Shape;20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Kết quả đạt được của đề tài gồm ba nhóm chính. Thứ nhất là frontend đã dựng đủ các route theo sitemap, bao gồm public, tài khoản, mua hàng, blog và admin. Thứ hai là database Supabase đã được thiết kế theo ERD với các bảng lõi, enum, khóa ngoại, index, Row Level Security và dữ liệu mẫu. Thứ ba là phần kỹ thuật đã được kiểm tra bằng các công cụ như lint và TypeScript để giảm lỗi cú pháp và lỗi kiểu dữ liệu. Hạn chế trong môi trường hiện tại là build production có phần bị sandbox chặn bind port, nên chưa thể kiểm tra đầy đủ như môi trường deploy thật.</a:t>
            </a:r>
            <a:endParaRPr/>
          </a:p>
        </p:txBody>
      </p:sp>
      <p:sp>
        <p:nvSpPr>
          <p:cNvPr id="219" name="Google Shape;21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Tóm lại, đề tài đã xây dựng được một prototype website mua bán đồ gốm sứ qua sử dụng với giao diện đầy đủ, khu vực quản trị và database Supabase theo ERD. Hệ thống giải quyết được bài toán nền tảng là đưa sản phẩm gốm sứ cũ lên một kênh mua bán có cấu trúc, có luồng đặt hàng và có dữ liệu quản trị. Trong tương lai, đề tài có thể phát triển theo bốn hướng: kết nối frontend với dữ liệu thật trên Supabase, hoàn thiện đăng nhập và phân quyền, tích hợp thanh toán vận chuyển và cập nhật tồn kho thật, cuối cùng là nâng cao trải nghiệm với upload ảnh, SEO, mobile và đánh giá sản phẩm. Em xin chân thành cảm ơn thầy cô đã lắng nghe và mong nhận được góp ý để hoàn thiện đề tài tốt hơn.</a:t>
            </a:r>
            <a:endParaRPr/>
          </a:p>
        </p:txBody>
      </p:sp>
      <p:sp>
        <p:nvSpPr>
          <p:cNvPr id="248" name="Google Shape;248;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eeb32519f1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eeb32519f1_0_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g3eeb32519f1_0_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drive.google.com/file/d/1GSfW5kQGxDD5l6QtZyf2jE37QKQcvAau/view"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15" name="Shape 15"/>
        <p:cNvGrpSpPr/>
        <p:nvPr/>
      </p:nvGrpSpPr>
      <p:grpSpPr>
        <a:xfrm>
          <a:off x="0" y="0"/>
          <a:ext cx="0" cy="0"/>
          <a:chOff x="0" y="0"/>
          <a:chExt cx="0" cy="0"/>
        </a:xfrm>
      </p:grpSpPr>
      <p:sp>
        <p:nvSpPr>
          <p:cNvPr id="16" name="Google Shape;16;p1"/>
          <p:cNvSpPr/>
          <p:nvPr/>
        </p:nvSpPr>
        <p:spPr>
          <a:xfrm>
            <a:off x="457200" y="457200"/>
            <a:ext cx="11277600" cy="5943600"/>
          </a:xfrm>
          <a:prstGeom prst="roundRect">
            <a:avLst>
              <a:gd fmla="val 3846" name="adj"/>
            </a:avLst>
          </a:prstGeom>
          <a:solidFill>
            <a:srgbClr val="EFE5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781050" y="781050"/>
            <a:ext cx="1524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125">
                <a:solidFill>
                  <a:srgbClr val="254F45"/>
                </a:solidFill>
                <a:latin typeface="Arial"/>
                <a:ea typeface="Arial"/>
                <a:cs typeface="Arial"/>
                <a:sym typeface="Arial"/>
              </a:rPr>
              <a:t>ĐỒ ÁN</a:t>
            </a:r>
            <a:endParaRPr/>
          </a:p>
        </p:txBody>
      </p:sp>
      <p:sp>
        <p:nvSpPr>
          <p:cNvPr id="18" name="Google Shape;18;p1"/>
          <p:cNvSpPr/>
          <p:nvPr/>
        </p:nvSpPr>
        <p:spPr>
          <a:xfrm>
            <a:off x="781050" y="1257300"/>
            <a:ext cx="6667500" cy="1428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600">
                <a:solidFill>
                  <a:srgbClr val="1C1917"/>
                </a:solidFill>
                <a:latin typeface="Georgia"/>
                <a:ea typeface="Georgia"/>
                <a:cs typeface="Georgia"/>
                <a:sym typeface="Georgia"/>
              </a:rPr>
              <a:t>Xây dựng website mua bán đồ gốm sứ qua sử dụng</a:t>
            </a:r>
            <a:endParaRPr/>
          </a:p>
        </p:txBody>
      </p:sp>
      <p:sp>
        <p:nvSpPr>
          <p:cNvPr id="19" name="Google Shape;19;p1"/>
          <p:cNvSpPr/>
          <p:nvPr/>
        </p:nvSpPr>
        <p:spPr>
          <a:xfrm>
            <a:off x="819150" y="2952750"/>
            <a:ext cx="6000750" cy="8191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00">
                <a:solidFill>
                  <a:srgbClr val="78716C"/>
                </a:solidFill>
                <a:latin typeface="Arial"/>
                <a:ea typeface="Arial"/>
                <a:cs typeface="Arial"/>
                <a:sym typeface="Arial"/>
              </a:rPr>
              <a:t>Một prototype thương mại điện tử chuyên biệt: có sitemap, giao diện mua hàng, khu vực quản trị và database Supabase theo ERD.</a:t>
            </a:r>
            <a:endParaRPr/>
          </a:p>
        </p:txBody>
      </p:sp>
      <p:sp>
        <p:nvSpPr>
          <p:cNvPr id="20" name="Google Shape;20;p1"/>
          <p:cNvSpPr/>
          <p:nvPr/>
        </p:nvSpPr>
        <p:spPr>
          <a:xfrm>
            <a:off x="781050" y="4191000"/>
            <a:ext cx="2476500" cy="1190625"/>
          </a:xfrm>
          <a:prstGeom prst="roundRect">
            <a:avLst>
              <a:gd fmla="val 12800" name="adj"/>
            </a:avLst>
          </a:prstGeom>
          <a:solidFill>
            <a:srgbClr val="FFFFF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990600" y="4362450"/>
            <a:ext cx="20574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125">
                <a:solidFill>
                  <a:srgbClr val="78716C"/>
                </a:solidFill>
                <a:latin typeface="Arial"/>
                <a:ea typeface="Arial"/>
                <a:cs typeface="Arial"/>
                <a:sym typeface="Arial"/>
              </a:rPr>
              <a:t>Phạm vi</a:t>
            </a:r>
            <a:endParaRPr/>
          </a:p>
        </p:txBody>
      </p:sp>
      <p:sp>
        <p:nvSpPr>
          <p:cNvPr id="22" name="Google Shape;22;p1"/>
          <p:cNvSpPr/>
          <p:nvPr/>
        </p:nvSpPr>
        <p:spPr>
          <a:xfrm>
            <a:off x="990600" y="4648200"/>
            <a:ext cx="20574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100">
                <a:solidFill>
                  <a:srgbClr val="254F45"/>
                </a:solidFill>
                <a:latin typeface="Georgia"/>
                <a:ea typeface="Georgia"/>
                <a:cs typeface="Georgia"/>
                <a:sym typeface="Georgia"/>
              </a:rPr>
              <a:t>Public + Admin</a:t>
            </a:r>
            <a:endParaRPr/>
          </a:p>
        </p:txBody>
      </p:sp>
      <p:sp>
        <p:nvSpPr>
          <p:cNvPr id="23" name="Google Shape;23;p1"/>
          <p:cNvSpPr/>
          <p:nvPr/>
        </p:nvSpPr>
        <p:spPr>
          <a:xfrm>
            <a:off x="990600" y="5029200"/>
            <a:ext cx="20574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75">
                <a:solidFill>
                  <a:srgbClr val="78716C"/>
                </a:solidFill>
                <a:latin typeface="Arial"/>
                <a:ea typeface="Arial"/>
                <a:cs typeface="Arial"/>
                <a:sym typeface="Arial"/>
              </a:rPr>
              <a:t>Đủ các trang theo sitemap</a:t>
            </a:r>
            <a:endParaRPr/>
          </a:p>
        </p:txBody>
      </p:sp>
      <p:sp>
        <p:nvSpPr>
          <p:cNvPr id="24" name="Google Shape;24;p1"/>
          <p:cNvSpPr/>
          <p:nvPr/>
        </p:nvSpPr>
        <p:spPr>
          <a:xfrm>
            <a:off x="3524250" y="4191000"/>
            <a:ext cx="2190750" cy="1190625"/>
          </a:xfrm>
          <a:prstGeom prst="roundRect">
            <a:avLst>
              <a:gd fmla="val 12800" name="adj"/>
            </a:avLst>
          </a:prstGeom>
          <a:solidFill>
            <a:srgbClr val="FFFFF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3733800" y="4362450"/>
            <a:ext cx="177165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125">
                <a:solidFill>
                  <a:srgbClr val="78716C"/>
                </a:solidFill>
                <a:latin typeface="Arial"/>
                <a:ea typeface="Arial"/>
                <a:cs typeface="Arial"/>
                <a:sym typeface="Arial"/>
              </a:rPr>
              <a:t>Database</a:t>
            </a:r>
            <a:endParaRPr/>
          </a:p>
        </p:txBody>
      </p:sp>
      <p:sp>
        <p:nvSpPr>
          <p:cNvPr id="26" name="Google Shape;26;p1"/>
          <p:cNvSpPr/>
          <p:nvPr/>
        </p:nvSpPr>
        <p:spPr>
          <a:xfrm>
            <a:off x="3733800" y="4648200"/>
            <a:ext cx="177165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100">
                <a:solidFill>
                  <a:srgbClr val="254F45"/>
                </a:solidFill>
                <a:latin typeface="Georgia"/>
                <a:ea typeface="Georgia"/>
                <a:cs typeface="Georgia"/>
                <a:sym typeface="Georgia"/>
              </a:rPr>
              <a:t>8 bảng lõi</a:t>
            </a:r>
            <a:endParaRPr/>
          </a:p>
        </p:txBody>
      </p:sp>
      <p:sp>
        <p:nvSpPr>
          <p:cNvPr id="27" name="Google Shape;27;p1"/>
          <p:cNvSpPr/>
          <p:nvPr/>
        </p:nvSpPr>
        <p:spPr>
          <a:xfrm>
            <a:off x="3733800" y="5029200"/>
            <a:ext cx="17716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75">
                <a:solidFill>
                  <a:srgbClr val="78716C"/>
                </a:solidFill>
                <a:latin typeface="Arial"/>
                <a:ea typeface="Arial"/>
                <a:cs typeface="Arial"/>
                <a:sym typeface="Arial"/>
              </a:rPr>
              <a:t>Bám ERD tiếng Việt</a:t>
            </a:r>
            <a:endParaRPr/>
          </a:p>
        </p:txBody>
      </p:sp>
      <p:sp>
        <p:nvSpPr>
          <p:cNvPr id="28" name="Google Shape;28;p1"/>
          <p:cNvSpPr/>
          <p:nvPr/>
        </p:nvSpPr>
        <p:spPr>
          <a:xfrm>
            <a:off x="5981700" y="4191000"/>
            <a:ext cx="2095500" cy="1190625"/>
          </a:xfrm>
          <a:prstGeom prst="roundRect">
            <a:avLst>
              <a:gd fmla="val 12800" name="adj"/>
            </a:avLst>
          </a:prstGeom>
          <a:solidFill>
            <a:srgbClr val="FFFFF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6191250" y="4362450"/>
            <a:ext cx="16764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125">
                <a:solidFill>
                  <a:srgbClr val="78716C"/>
                </a:solidFill>
                <a:latin typeface="Arial"/>
                <a:ea typeface="Arial"/>
                <a:cs typeface="Arial"/>
                <a:sym typeface="Arial"/>
              </a:rPr>
              <a:t>Thời lượng</a:t>
            </a:r>
            <a:endParaRPr/>
          </a:p>
        </p:txBody>
      </p:sp>
      <p:sp>
        <p:nvSpPr>
          <p:cNvPr id="30" name="Google Shape;30;p1"/>
          <p:cNvSpPr/>
          <p:nvPr/>
        </p:nvSpPr>
        <p:spPr>
          <a:xfrm>
            <a:off x="6191250" y="4648200"/>
            <a:ext cx="16764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100">
                <a:solidFill>
                  <a:srgbClr val="254F45"/>
                </a:solidFill>
                <a:latin typeface="Georgia"/>
                <a:ea typeface="Georgia"/>
                <a:cs typeface="Georgia"/>
                <a:sym typeface="Georgia"/>
              </a:rPr>
              <a:t>~15 phút</a:t>
            </a:r>
            <a:endParaRPr/>
          </a:p>
        </p:txBody>
      </p:sp>
      <p:sp>
        <p:nvSpPr>
          <p:cNvPr id="31" name="Google Shape;31;p1"/>
          <p:cNvSpPr/>
          <p:nvPr/>
        </p:nvSpPr>
        <p:spPr>
          <a:xfrm>
            <a:off x="6191250" y="5029200"/>
            <a:ext cx="16764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75">
                <a:solidFill>
                  <a:srgbClr val="78716C"/>
                </a:solidFill>
                <a:latin typeface="Arial"/>
                <a:ea typeface="Arial"/>
                <a:cs typeface="Arial"/>
                <a:sym typeface="Arial"/>
              </a:rPr>
              <a:t>12 slide trình bày</a:t>
            </a:r>
            <a:endParaRPr/>
          </a:p>
        </p:txBody>
      </p:sp>
      <p:pic>
        <p:nvPicPr>
          <p:cNvPr id="32" name="Google Shape;32;p1"/>
          <p:cNvPicPr preferRelativeResize="0"/>
          <p:nvPr/>
        </p:nvPicPr>
        <p:blipFill rotWithShape="1">
          <a:blip r:embed="rId3">
            <a:alphaModFix/>
          </a:blip>
          <a:srcRect b="0" l="0" r="0" t="0"/>
          <a:stretch/>
        </p:blipFill>
        <p:spPr>
          <a:xfrm>
            <a:off x="7524750" y="1112838"/>
            <a:ext cx="3619500" cy="2413000"/>
          </a:xfrm>
          <a:prstGeom prst="rect">
            <a:avLst/>
          </a:prstGeom>
          <a:noFill/>
          <a:ln>
            <a:noFill/>
          </a:ln>
        </p:spPr>
      </p:pic>
      <p:sp>
        <p:nvSpPr>
          <p:cNvPr id="33" name="Google Shape;33;p1"/>
          <p:cNvSpPr/>
          <p:nvPr/>
        </p:nvSpPr>
        <p:spPr>
          <a:xfrm>
            <a:off x="7524750" y="4000500"/>
            <a:ext cx="314325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25">
                <a:solidFill>
                  <a:srgbClr val="1C1917"/>
                </a:solidFill>
                <a:latin typeface="Arial"/>
                <a:ea typeface="Arial"/>
                <a:cs typeface="Arial"/>
                <a:sym typeface="Arial"/>
              </a:rPr>
              <a:t>SVTH: ................................</a:t>
            </a:r>
            <a:endParaRPr/>
          </a:p>
          <a:p>
            <a:pPr indent="0" lvl="0" marL="0" marR="0" rtl="0" algn="l">
              <a:spcBef>
                <a:spcPts val="0"/>
              </a:spcBef>
              <a:spcAft>
                <a:spcPts val="0"/>
              </a:spcAft>
              <a:buNone/>
            </a:pPr>
            <a:r>
              <a:rPr b="0" i="0" lang="en-US" sz="1425">
                <a:solidFill>
                  <a:srgbClr val="1C1917"/>
                </a:solidFill>
                <a:latin typeface="Arial"/>
                <a:ea typeface="Arial"/>
                <a:cs typeface="Arial"/>
                <a:sym typeface="Arial"/>
              </a:rPr>
              <a:t>MSSV: .................................</a:t>
            </a:r>
            <a:endParaRPr/>
          </a:p>
          <a:p>
            <a:pPr indent="0" lvl="0" marL="0" marR="0" rtl="0" algn="l">
              <a:spcBef>
                <a:spcPts val="0"/>
              </a:spcBef>
              <a:spcAft>
                <a:spcPts val="0"/>
              </a:spcAft>
              <a:buNone/>
            </a:pPr>
            <a:r>
              <a:rPr b="0" i="0" lang="en-US" sz="1425">
                <a:solidFill>
                  <a:srgbClr val="1C1917"/>
                </a:solidFill>
                <a:latin typeface="Arial"/>
                <a:ea typeface="Arial"/>
                <a:cs typeface="Arial"/>
                <a:sym typeface="Arial"/>
              </a:rPr>
              <a:t>GVHD: .................................</a:t>
            </a:r>
            <a:endParaRPr/>
          </a:p>
        </p:txBody>
      </p:sp>
      <p:sp>
        <p:nvSpPr>
          <p:cNvPr id="34" name="Google Shape;34;p1"/>
          <p:cNvSpPr/>
          <p:nvPr/>
        </p:nvSpPr>
        <p:spPr>
          <a:xfrm>
            <a:off x="457200" y="6496050"/>
            <a:ext cx="7239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00">
                <a:solidFill>
                  <a:srgbClr val="8A8176"/>
                </a:solidFill>
                <a:latin typeface="Arial"/>
                <a:ea typeface="Arial"/>
                <a:cs typeface="Arial"/>
                <a:sym typeface="Arial"/>
              </a:rPr>
              <a:t>Đề tài: Website mua bán đồ gốm sứ qua sử dụng</a:t>
            </a:r>
            <a:endParaRPr/>
          </a:p>
        </p:txBody>
      </p:sp>
      <p:sp>
        <p:nvSpPr>
          <p:cNvPr id="35" name="Google Shape;35;p1"/>
          <p:cNvSpPr/>
          <p:nvPr/>
        </p:nvSpPr>
        <p:spPr>
          <a:xfrm>
            <a:off x="11315700" y="6457950"/>
            <a:ext cx="428625"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8A8176"/>
                </a:solidFill>
                <a:latin typeface="Arial"/>
                <a:ea typeface="Arial"/>
                <a:cs typeface="Arial"/>
                <a:sym typeface="Arial"/>
              </a:rPr>
              <a:t>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40" name="Shape 40"/>
        <p:cNvGrpSpPr/>
        <p:nvPr/>
      </p:nvGrpSpPr>
      <p:grpSpPr>
        <a:xfrm>
          <a:off x="0" y="0"/>
          <a:ext cx="0" cy="0"/>
          <a:chOff x="0" y="0"/>
          <a:chExt cx="0" cy="0"/>
        </a:xfrm>
      </p:grpSpPr>
      <p:sp>
        <p:nvSpPr>
          <p:cNvPr id="41" name="Google Shape;41;p2"/>
          <p:cNvSpPr/>
          <p:nvPr/>
        </p:nvSpPr>
        <p:spPr>
          <a:xfrm>
            <a:off x="457200" y="381000"/>
            <a:ext cx="3429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50">
                <a:solidFill>
                  <a:srgbClr val="254F45"/>
                </a:solidFill>
                <a:latin typeface="Arial"/>
                <a:ea typeface="Arial"/>
                <a:cs typeface="Arial"/>
                <a:sym typeface="Arial"/>
              </a:rPr>
              <a:t>BỐI CẢNH</a:t>
            </a:r>
            <a:endParaRPr/>
          </a:p>
        </p:txBody>
      </p:sp>
      <p:sp>
        <p:nvSpPr>
          <p:cNvPr id="42" name="Google Shape;42;p2"/>
          <p:cNvSpPr/>
          <p:nvPr/>
        </p:nvSpPr>
        <p:spPr>
          <a:xfrm>
            <a:off x="457200" y="742950"/>
            <a:ext cx="7048500" cy="990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925">
                <a:solidFill>
                  <a:srgbClr val="1C1917"/>
                </a:solidFill>
                <a:latin typeface="Georgia"/>
                <a:ea typeface="Georgia"/>
                <a:cs typeface="Georgia"/>
                <a:sym typeface="Georgia"/>
              </a:rPr>
              <a:t>Mua bán gốm sứ cũ cần nhiều niềm tin hơn một bài đăng rời rạc.</a:t>
            </a:r>
            <a:endParaRPr/>
          </a:p>
        </p:txBody>
      </p:sp>
      <p:sp>
        <p:nvSpPr>
          <p:cNvPr id="43" name="Google Shape;43;p2"/>
          <p:cNvSpPr/>
          <p:nvPr/>
        </p:nvSpPr>
        <p:spPr>
          <a:xfrm>
            <a:off x="666750" y="2095500"/>
            <a:ext cx="4762500" cy="3143250"/>
          </a:xfrm>
          <a:prstGeom prst="roundRect">
            <a:avLst>
              <a:gd fmla="val 5455" name="adj"/>
            </a:avLst>
          </a:prstGeom>
          <a:solidFill>
            <a:srgbClr val="FFFDFC"/>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6762750" y="2095500"/>
            <a:ext cx="4762500" cy="3143250"/>
          </a:xfrm>
          <a:prstGeom prst="roundRect">
            <a:avLst>
              <a:gd fmla="val 5455" name="adj"/>
            </a:avLst>
          </a:prstGeom>
          <a:solidFill>
            <a:srgbClr val="FFFDFC"/>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1000125" y="2381250"/>
            <a:ext cx="2857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950">
                <a:solidFill>
                  <a:srgbClr val="1C1917"/>
                </a:solidFill>
                <a:latin typeface="Georgia"/>
                <a:ea typeface="Georgia"/>
                <a:cs typeface="Georgia"/>
                <a:sym typeface="Georgia"/>
              </a:rPr>
              <a:t>Vấn đề hiện tại</a:t>
            </a:r>
            <a:endParaRPr/>
          </a:p>
        </p:txBody>
      </p:sp>
      <p:sp>
        <p:nvSpPr>
          <p:cNvPr id="46" name="Google Shape;46;p2"/>
          <p:cNvSpPr/>
          <p:nvPr/>
        </p:nvSpPr>
        <p:spPr>
          <a:xfrm>
            <a:off x="1047750" y="3019425"/>
            <a:ext cx="95250" cy="952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1276350" y="2952750"/>
            <a:ext cx="3533775" cy="419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C1917"/>
              </a:buClr>
              <a:buSzPts val="1425"/>
              <a:buFont typeface="Arial"/>
              <a:buNone/>
            </a:pPr>
            <a:r>
              <a:rPr b="0" i="0" lang="en-US" sz="1425">
                <a:solidFill>
                  <a:srgbClr val="1C1917"/>
                </a:solidFill>
                <a:latin typeface="Arial"/>
                <a:ea typeface="Arial"/>
                <a:cs typeface="Arial"/>
                <a:sym typeface="Arial"/>
              </a:rPr>
              <a:t>Thông tin sản phẩm phân tán trên mạng xã hội</a:t>
            </a:r>
            <a:endParaRPr/>
          </a:p>
        </p:txBody>
      </p:sp>
      <p:sp>
        <p:nvSpPr>
          <p:cNvPr id="48" name="Google Shape;48;p2"/>
          <p:cNvSpPr/>
          <p:nvPr/>
        </p:nvSpPr>
        <p:spPr>
          <a:xfrm>
            <a:off x="1047750" y="3533775"/>
            <a:ext cx="95250" cy="952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1276350" y="3467100"/>
            <a:ext cx="3533775" cy="419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C1917"/>
              </a:buClr>
              <a:buSzPts val="1425"/>
              <a:buFont typeface="Arial"/>
              <a:buNone/>
            </a:pPr>
            <a:r>
              <a:rPr b="0" i="0" lang="en-US" sz="1425">
                <a:solidFill>
                  <a:srgbClr val="1C1917"/>
                </a:solidFill>
                <a:latin typeface="Arial"/>
                <a:ea typeface="Arial"/>
                <a:cs typeface="Arial"/>
                <a:sym typeface="Arial"/>
              </a:rPr>
              <a:t>Khó mô tả tình trạng, vết men, nguồn gốc</a:t>
            </a:r>
            <a:endParaRPr/>
          </a:p>
        </p:txBody>
      </p:sp>
      <p:sp>
        <p:nvSpPr>
          <p:cNvPr id="50" name="Google Shape;50;p2"/>
          <p:cNvSpPr/>
          <p:nvPr/>
        </p:nvSpPr>
        <p:spPr>
          <a:xfrm>
            <a:off x="1047750" y="4048125"/>
            <a:ext cx="95250" cy="952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1276350" y="3981450"/>
            <a:ext cx="3533775" cy="419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C1917"/>
              </a:buClr>
              <a:buSzPts val="1425"/>
              <a:buFont typeface="Arial"/>
              <a:buNone/>
            </a:pPr>
            <a:r>
              <a:rPr b="0" i="0" lang="en-US" sz="1425">
                <a:solidFill>
                  <a:srgbClr val="1C1917"/>
                </a:solidFill>
                <a:latin typeface="Arial"/>
                <a:ea typeface="Arial"/>
                <a:cs typeface="Arial"/>
                <a:sym typeface="Arial"/>
              </a:rPr>
              <a:t>Thiếu luồng quản lý đơn hàng và tồn kho</a:t>
            </a:r>
            <a:endParaRPr/>
          </a:p>
        </p:txBody>
      </p:sp>
      <p:sp>
        <p:nvSpPr>
          <p:cNvPr id="52" name="Google Shape;52;p2"/>
          <p:cNvSpPr/>
          <p:nvPr/>
        </p:nvSpPr>
        <p:spPr>
          <a:xfrm>
            <a:off x="1047750" y="4562475"/>
            <a:ext cx="95250" cy="952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1276350" y="4495800"/>
            <a:ext cx="3533775" cy="419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C1917"/>
              </a:buClr>
              <a:buSzPts val="1425"/>
              <a:buFont typeface="Arial"/>
              <a:buNone/>
            </a:pPr>
            <a:r>
              <a:rPr b="0" i="0" lang="en-US" sz="1425">
                <a:solidFill>
                  <a:srgbClr val="1C1917"/>
                </a:solidFill>
                <a:latin typeface="Arial"/>
                <a:ea typeface="Arial"/>
                <a:cs typeface="Arial"/>
                <a:sym typeface="Arial"/>
              </a:rPr>
              <a:t>Khó tìm lại lịch sử giao dịch</a:t>
            </a:r>
            <a:endParaRPr/>
          </a:p>
        </p:txBody>
      </p:sp>
      <p:sp>
        <p:nvSpPr>
          <p:cNvPr id="54" name="Google Shape;54;p2"/>
          <p:cNvSpPr/>
          <p:nvPr/>
        </p:nvSpPr>
        <p:spPr>
          <a:xfrm>
            <a:off x="7096125" y="2381250"/>
            <a:ext cx="2857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950">
                <a:solidFill>
                  <a:srgbClr val="1C1917"/>
                </a:solidFill>
                <a:latin typeface="Georgia"/>
                <a:ea typeface="Georgia"/>
                <a:cs typeface="Georgia"/>
                <a:sym typeface="Georgia"/>
              </a:rPr>
              <a:t>Giải pháp đề tài</a:t>
            </a:r>
            <a:endParaRPr/>
          </a:p>
        </p:txBody>
      </p:sp>
      <p:sp>
        <p:nvSpPr>
          <p:cNvPr id="55" name="Google Shape;55;p2"/>
          <p:cNvSpPr/>
          <p:nvPr/>
        </p:nvSpPr>
        <p:spPr>
          <a:xfrm>
            <a:off x="7143750" y="3019425"/>
            <a:ext cx="95250" cy="952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7372350" y="2952750"/>
            <a:ext cx="3533775" cy="419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C1917"/>
              </a:buClr>
              <a:buSzPts val="1425"/>
              <a:buFont typeface="Arial"/>
              <a:buNone/>
            </a:pPr>
            <a:r>
              <a:rPr b="0" i="0" lang="en-US" sz="1425">
                <a:solidFill>
                  <a:srgbClr val="1C1917"/>
                </a:solidFill>
                <a:latin typeface="Arial"/>
                <a:ea typeface="Arial"/>
                <a:cs typeface="Arial"/>
                <a:sym typeface="Arial"/>
              </a:rPr>
              <a:t>Website chuyên biệt cho đồ gốm sứ qua sử dụng</a:t>
            </a:r>
            <a:endParaRPr/>
          </a:p>
        </p:txBody>
      </p:sp>
      <p:sp>
        <p:nvSpPr>
          <p:cNvPr id="57" name="Google Shape;57;p2"/>
          <p:cNvSpPr/>
          <p:nvPr/>
        </p:nvSpPr>
        <p:spPr>
          <a:xfrm>
            <a:off x="7143750" y="3533775"/>
            <a:ext cx="95250" cy="952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7372350" y="3467100"/>
            <a:ext cx="3533775" cy="419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C1917"/>
              </a:buClr>
              <a:buSzPts val="1425"/>
              <a:buFont typeface="Arial"/>
              <a:buNone/>
            </a:pPr>
            <a:r>
              <a:rPr b="0" i="0" lang="en-US" sz="1425">
                <a:solidFill>
                  <a:srgbClr val="1C1917"/>
                </a:solidFill>
                <a:latin typeface="Arial"/>
                <a:ea typeface="Arial"/>
                <a:cs typeface="Arial"/>
                <a:sym typeface="Arial"/>
              </a:rPr>
              <a:t>Trang sản phẩm rõ ảnh, giá, tình trạng, tồn kho</a:t>
            </a:r>
            <a:endParaRPr/>
          </a:p>
        </p:txBody>
      </p:sp>
      <p:sp>
        <p:nvSpPr>
          <p:cNvPr id="59" name="Google Shape;59;p2"/>
          <p:cNvSpPr/>
          <p:nvPr/>
        </p:nvSpPr>
        <p:spPr>
          <a:xfrm>
            <a:off x="7143750" y="4048125"/>
            <a:ext cx="95250" cy="952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7372350" y="3981450"/>
            <a:ext cx="3533775" cy="419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C1917"/>
              </a:buClr>
              <a:buSzPts val="1425"/>
              <a:buFont typeface="Arial"/>
              <a:buNone/>
            </a:pPr>
            <a:r>
              <a:rPr b="0" i="0" lang="en-US" sz="1425">
                <a:solidFill>
                  <a:srgbClr val="1C1917"/>
                </a:solidFill>
                <a:latin typeface="Arial"/>
                <a:ea typeface="Arial"/>
                <a:cs typeface="Arial"/>
                <a:sym typeface="Arial"/>
              </a:rPr>
              <a:t>Luồng đặt hàng và thanh toán mô phỏng đầy đủ</a:t>
            </a:r>
            <a:endParaRPr/>
          </a:p>
        </p:txBody>
      </p:sp>
      <p:sp>
        <p:nvSpPr>
          <p:cNvPr id="61" name="Google Shape;61;p2"/>
          <p:cNvSpPr/>
          <p:nvPr/>
        </p:nvSpPr>
        <p:spPr>
          <a:xfrm>
            <a:off x="7143750" y="4562475"/>
            <a:ext cx="95250" cy="952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7372350" y="4495800"/>
            <a:ext cx="3533775" cy="419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C1917"/>
              </a:buClr>
              <a:buSzPts val="1425"/>
              <a:buFont typeface="Arial"/>
              <a:buNone/>
            </a:pPr>
            <a:r>
              <a:rPr b="0" i="0" lang="en-US" sz="1425">
                <a:solidFill>
                  <a:srgbClr val="1C1917"/>
                </a:solidFill>
                <a:latin typeface="Arial"/>
                <a:ea typeface="Arial"/>
                <a:cs typeface="Arial"/>
                <a:sym typeface="Arial"/>
              </a:rPr>
              <a:t>Admin quản lý sản phẩm, đơn hàng, báo cáo</a:t>
            </a:r>
            <a:endParaRPr/>
          </a:p>
        </p:txBody>
      </p:sp>
      <p:sp>
        <p:nvSpPr>
          <p:cNvPr id="63" name="Google Shape;63;p2"/>
          <p:cNvSpPr/>
          <p:nvPr/>
        </p:nvSpPr>
        <p:spPr>
          <a:xfrm>
            <a:off x="5667375" y="3371850"/>
            <a:ext cx="857250" cy="571500"/>
          </a:xfrm>
          <a:prstGeom prst="roundRect">
            <a:avLst>
              <a:gd fmla="val 50000" name="adj"/>
            </a:avLst>
          </a:prstGeom>
          <a:solidFill>
            <a:srgbClr val="254F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5905500" y="3409950"/>
            <a:ext cx="428625" cy="4381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3300">
                <a:solidFill>
                  <a:srgbClr val="FFFFFF"/>
                </a:solidFill>
                <a:latin typeface="Arial"/>
                <a:ea typeface="Arial"/>
                <a:cs typeface="Arial"/>
                <a:sym typeface="Arial"/>
              </a:rPr>
              <a:t>→</a:t>
            </a:r>
            <a:endParaRPr/>
          </a:p>
        </p:txBody>
      </p:sp>
      <p:sp>
        <p:nvSpPr>
          <p:cNvPr id="65" name="Google Shape;65;p2"/>
          <p:cNvSpPr/>
          <p:nvPr/>
        </p:nvSpPr>
        <p:spPr>
          <a:xfrm>
            <a:off x="457200" y="6496050"/>
            <a:ext cx="7239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00">
                <a:solidFill>
                  <a:srgbClr val="8A8176"/>
                </a:solidFill>
                <a:latin typeface="Arial"/>
                <a:ea typeface="Arial"/>
                <a:cs typeface="Arial"/>
                <a:sym typeface="Arial"/>
              </a:rPr>
              <a:t>Nguồn: Báo cáo đề tài website mua bán đồ gốm sứ qua sử dụng</a:t>
            </a:r>
            <a:endParaRPr/>
          </a:p>
        </p:txBody>
      </p:sp>
      <p:sp>
        <p:nvSpPr>
          <p:cNvPr id="66" name="Google Shape;66;p2"/>
          <p:cNvSpPr/>
          <p:nvPr/>
        </p:nvSpPr>
        <p:spPr>
          <a:xfrm>
            <a:off x="11315700" y="6457950"/>
            <a:ext cx="428625"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8A8176"/>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71" name="Shape 71"/>
        <p:cNvGrpSpPr/>
        <p:nvPr/>
      </p:nvGrpSpPr>
      <p:grpSpPr>
        <a:xfrm>
          <a:off x="0" y="0"/>
          <a:ext cx="0" cy="0"/>
          <a:chOff x="0" y="0"/>
          <a:chExt cx="0" cy="0"/>
        </a:xfrm>
      </p:grpSpPr>
      <p:sp>
        <p:nvSpPr>
          <p:cNvPr id="72" name="Google Shape;72;p3"/>
          <p:cNvSpPr/>
          <p:nvPr/>
        </p:nvSpPr>
        <p:spPr>
          <a:xfrm>
            <a:off x="457200" y="381000"/>
            <a:ext cx="3429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50">
                <a:solidFill>
                  <a:srgbClr val="254F45"/>
                </a:solidFill>
                <a:latin typeface="Arial"/>
                <a:ea typeface="Arial"/>
                <a:cs typeface="Arial"/>
                <a:sym typeface="Arial"/>
              </a:rPr>
              <a:t>PHẠM VI</a:t>
            </a:r>
            <a:endParaRPr/>
          </a:p>
        </p:txBody>
      </p:sp>
      <p:sp>
        <p:nvSpPr>
          <p:cNvPr id="73" name="Google Shape;73;p3"/>
          <p:cNvSpPr/>
          <p:nvPr/>
        </p:nvSpPr>
        <p:spPr>
          <a:xfrm>
            <a:off x="457200" y="742950"/>
            <a:ext cx="7048500" cy="990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925">
                <a:solidFill>
                  <a:srgbClr val="1C1917"/>
                </a:solidFill>
                <a:latin typeface="Georgia"/>
                <a:ea typeface="Georgia"/>
                <a:cs typeface="Georgia"/>
                <a:sym typeface="Georgia"/>
              </a:rPr>
              <a:t>Đề tài tập trung xây nền tảng giao diện và dữ liệu thay vì tích hợp thương mại thực tế.</a:t>
            </a:r>
            <a:endParaRPr/>
          </a:p>
        </p:txBody>
      </p:sp>
      <p:sp>
        <p:nvSpPr>
          <p:cNvPr id="74" name="Google Shape;74;p3"/>
          <p:cNvSpPr/>
          <p:nvPr/>
        </p:nvSpPr>
        <p:spPr>
          <a:xfrm>
            <a:off x="723900" y="2047875"/>
            <a:ext cx="10744200" cy="666750"/>
          </a:xfrm>
          <a:prstGeom prst="roundRect">
            <a:avLst>
              <a:gd fmla="val 20000" name="adj"/>
            </a:avLst>
          </a:prstGeom>
          <a:solidFill>
            <a:srgbClr val="FFFFF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1028700" y="2228850"/>
            <a:ext cx="2286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50">
                <a:solidFill>
                  <a:srgbClr val="254F45"/>
                </a:solidFill>
                <a:latin typeface="Arial"/>
                <a:ea typeface="Arial"/>
                <a:cs typeface="Arial"/>
                <a:sym typeface="Arial"/>
              </a:rPr>
              <a:t>Frontend public</a:t>
            </a:r>
            <a:endParaRPr/>
          </a:p>
        </p:txBody>
      </p:sp>
      <p:sp>
        <p:nvSpPr>
          <p:cNvPr id="76" name="Google Shape;76;p3"/>
          <p:cNvSpPr/>
          <p:nvPr/>
        </p:nvSpPr>
        <p:spPr>
          <a:xfrm>
            <a:off x="3571875" y="2219325"/>
            <a:ext cx="74295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00">
                <a:solidFill>
                  <a:srgbClr val="1C1917"/>
                </a:solidFill>
                <a:latin typeface="Arial"/>
                <a:ea typeface="Arial"/>
                <a:cs typeface="Arial"/>
                <a:sym typeface="Arial"/>
              </a:rPr>
              <a:t>Trang chủ, cửa hàng, chi tiết sản phẩm, giỏ hàng, checkout, tài khoản, blog</a:t>
            </a:r>
            <a:endParaRPr/>
          </a:p>
        </p:txBody>
      </p:sp>
      <p:sp>
        <p:nvSpPr>
          <p:cNvPr id="77" name="Google Shape;77;p3"/>
          <p:cNvSpPr/>
          <p:nvPr/>
        </p:nvSpPr>
        <p:spPr>
          <a:xfrm>
            <a:off x="723900" y="2924175"/>
            <a:ext cx="10744200" cy="666750"/>
          </a:xfrm>
          <a:prstGeom prst="roundRect">
            <a:avLst>
              <a:gd fmla="val 20000" name="adj"/>
            </a:avLst>
          </a:prstGeom>
          <a:solidFill>
            <a:srgbClr val="FFFFF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1028700" y="3105150"/>
            <a:ext cx="2286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50">
                <a:solidFill>
                  <a:srgbClr val="254F45"/>
                </a:solidFill>
                <a:latin typeface="Arial"/>
                <a:ea typeface="Arial"/>
                <a:cs typeface="Arial"/>
                <a:sym typeface="Arial"/>
              </a:rPr>
              <a:t>Admin</a:t>
            </a:r>
            <a:endParaRPr/>
          </a:p>
        </p:txBody>
      </p:sp>
      <p:sp>
        <p:nvSpPr>
          <p:cNvPr id="79" name="Google Shape;79;p3"/>
          <p:cNvSpPr/>
          <p:nvPr/>
        </p:nvSpPr>
        <p:spPr>
          <a:xfrm>
            <a:off x="3571875" y="3095625"/>
            <a:ext cx="74295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00">
                <a:solidFill>
                  <a:srgbClr val="1C1917"/>
                </a:solidFill>
                <a:latin typeface="Arial"/>
                <a:ea typeface="Arial"/>
                <a:cs typeface="Arial"/>
                <a:sym typeface="Arial"/>
              </a:rPr>
              <a:t>Dashboard, sản phẩm, đơn hàng, khách hàng, danh mục, báo cáo doanh thu/tồn kho</a:t>
            </a:r>
            <a:endParaRPr/>
          </a:p>
        </p:txBody>
      </p:sp>
      <p:sp>
        <p:nvSpPr>
          <p:cNvPr id="80" name="Google Shape;80;p3"/>
          <p:cNvSpPr/>
          <p:nvPr/>
        </p:nvSpPr>
        <p:spPr>
          <a:xfrm>
            <a:off x="723900" y="3800475"/>
            <a:ext cx="10744200" cy="666750"/>
          </a:xfrm>
          <a:prstGeom prst="roundRect">
            <a:avLst>
              <a:gd fmla="val 20000" name="adj"/>
            </a:avLst>
          </a:prstGeom>
          <a:solidFill>
            <a:srgbClr val="FFFFF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1028700" y="3981450"/>
            <a:ext cx="2286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50">
                <a:solidFill>
                  <a:srgbClr val="254F45"/>
                </a:solidFill>
                <a:latin typeface="Arial"/>
                <a:ea typeface="Arial"/>
                <a:cs typeface="Arial"/>
                <a:sym typeface="Arial"/>
              </a:rPr>
              <a:t>Database</a:t>
            </a:r>
            <a:endParaRPr/>
          </a:p>
        </p:txBody>
      </p:sp>
      <p:sp>
        <p:nvSpPr>
          <p:cNvPr id="82" name="Google Shape;82;p3"/>
          <p:cNvSpPr/>
          <p:nvPr/>
        </p:nvSpPr>
        <p:spPr>
          <a:xfrm>
            <a:off x="3571875" y="3971925"/>
            <a:ext cx="74295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00">
                <a:solidFill>
                  <a:srgbClr val="1C1917"/>
                </a:solidFill>
                <a:latin typeface="Arial"/>
                <a:ea typeface="Arial"/>
                <a:cs typeface="Arial"/>
                <a:sym typeface="Arial"/>
              </a:rPr>
              <a:t>8 bảng lõi, enum, khóa ngoại, index, RLS và dữ liệu mẫu</a:t>
            </a:r>
            <a:endParaRPr/>
          </a:p>
        </p:txBody>
      </p:sp>
      <p:sp>
        <p:nvSpPr>
          <p:cNvPr id="83" name="Google Shape;83;p3"/>
          <p:cNvSpPr/>
          <p:nvPr/>
        </p:nvSpPr>
        <p:spPr>
          <a:xfrm>
            <a:off x="723900" y="4676775"/>
            <a:ext cx="10744200" cy="666750"/>
          </a:xfrm>
          <a:prstGeom prst="roundRect">
            <a:avLst>
              <a:gd fmla="val 20000" name="adj"/>
            </a:avLst>
          </a:prstGeom>
          <a:solidFill>
            <a:srgbClr val="FFF2E8"/>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1028700" y="4857750"/>
            <a:ext cx="2286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50">
                <a:solidFill>
                  <a:srgbClr val="B46A3C"/>
                </a:solidFill>
                <a:latin typeface="Arial"/>
                <a:ea typeface="Arial"/>
                <a:cs typeface="Arial"/>
                <a:sym typeface="Arial"/>
              </a:rPr>
              <a:t>Chưa triển khai thật</a:t>
            </a:r>
            <a:endParaRPr/>
          </a:p>
        </p:txBody>
      </p:sp>
      <p:sp>
        <p:nvSpPr>
          <p:cNvPr id="85" name="Google Shape;85;p3"/>
          <p:cNvSpPr/>
          <p:nvPr/>
        </p:nvSpPr>
        <p:spPr>
          <a:xfrm>
            <a:off x="3571875" y="4848225"/>
            <a:ext cx="74295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00">
                <a:solidFill>
                  <a:srgbClr val="1C1917"/>
                </a:solidFill>
                <a:latin typeface="Arial"/>
                <a:ea typeface="Arial"/>
                <a:cs typeface="Arial"/>
                <a:sym typeface="Arial"/>
              </a:rPr>
              <a:t>Thanh toán online, vận chuyển, upload ảnh, xác thực phân quyền đầy đủ</a:t>
            </a:r>
            <a:endParaRPr/>
          </a:p>
        </p:txBody>
      </p:sp>
      <p:sp>
        <p:nvSpPr>
          <p:cNvPr id="86" name="Google Shape;86;p3"/>
          <p:cNvSpPr/>
          <p:nvPr/>
        </p:nvSpPr>
        <p:spPr>
          <a:xfrm>
            <a:off x="457200" y="6496050"/>
            <a:ext cx="7239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00">
                <a:solidFill>
                  <a:srgbClr val="8A8176"/>
                </a:solidFill>
                <a:latin typeface="Arial"/>
                <a:ea typeface="Arial"/>
                <a:cs typeface="Arial"/>
                <a:sym typeface="Arial"/>
              </a:rPr>
              <a:t>Nguồn: Báo cáo đề tài website mua bán đồ gốm sứ qua sử dụng</a:t>
            </a:r>
            <a:endParaRPr/>
          </a:p>
        </p:txBody>
      </p:sp>
      <p:sp>
        <p:nvSpPr>
          <p:cNvPr id="87" name="Google Shape;87;p3"/>
          <p:cNvSpPr/>
          <p:nvPr/>
        </p:nvSpPr>
        <p:spPr>
          <a:xfrm>
            <a:off x="11315700" y="6457950"/>
            <a:ext cx="428625"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8A8176"/>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92" name="Shape 92"/>
        <p:cNvGrpSpPr/>
        <p:nvPr/>
      </p:nvGrpSpPr>
      <p:grpSpPr>
        <a:xfrm>
          <a:off x="0" y="0"/>
          <a:ext cx="0" cy="0"/>
          <a:chOff x="0" y="0"/>
          <a:chExt cx="0" cy="0"/>
        </a:xfrm>
      </p:grpSpPr>
      <p:sp>
        <p:nvSpPr>
          <p:cNvPr id="93" name="Google Shape;93;p4"/>
          <p:cNvSpPr/>
          <p:nvPr/>
        </p:nvSpPr>
        <p:spPr>
          <a:xfrm>
            <a:off x="457200" y="381000"/>
            <a:ext cx="3429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50">
                <a:solidFill>
                  <a:srgbClr val="254F45"/>
                </a:solidFill>
                <a:latin typeface="Arial"/>
                <a:ea typeface="Arial"/>
                <a:cs typeface="Arial"/>
                <a:sym typeface="Arial"/>
              </a:rPr>
              <a:t>SITEMAP</a:t>
            </a:r>
            <a:endParaRPr/>
          </a:p>
        </p:txBody>
      </p:sp>
      <p:sp>
        <p:nvSpPr>
          <p:cNvPr id="94" name="Google Shape;94;p4"/>
          <p:cNvSpPr/>
          <p:nvPr/>
        </p:nvSpPr>
        <p:spPr>
          <a:xfrm>
            <a:off x="457200" y="742950"/>
            <a:ext cx="7048500" cy="990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925">
                <a:solidFill>
                  <a:srgbClr val="1C1917"/>
                </a:solidFill>
                <a:latin typeface="Georgia"/>
                <a:ea typeface="Georgia"/>
                <a:cs typeface="Georgia"/>
                <a:sym typeface="Georgia"/>
              </a:rPr>
              <a:t>Cấu trúc trang bao phủ cả hành trình mua hàng và vận hành admin.</a:t>
            </a:r>
            <a:endParaRPr/>
          </a:p>
        </p:txBody>
      </p:sp>
      <p:pic>
        <p:nvPicPr>
          <p:cNvPr id="95" name="Google Shape;95;p4"/>
          <p:cNvPicPr preferRelativeResize="0"/>
          <p:nvPr/>
        </p:nvPicPr>
        <p:blipFill rotWithShape="1">
          <a:blip r:embed="rId3">
            <a:alphaModFix/>
          </a:blip>
          <a:srcRect b="0" l="0" r="0" t="0"/>
          <a:stretch/>
        </p:blipFill>
        <p:spPr>
          <a:xfrm>
            <a:off x="4592411" y="1524000"/>
            <a:ext cx="3007179" cy="4333875"/>
          </a:xfrm>
          <a:prstGeom prst="rect">
            <a:avLst/>
          </a:prstGeom>
          <a:noFill/>
          <a:ln>
            <a:noFill/>
          </a:ln>
        </p:spPr>
      </p:pic>
      <p:sp>
        <p:nvSpPr>
          <p:cNvPr id="96" name="Google Shape;96;p4"/>
          <p:cNvSpPr/>
          <p:nvPr/>
        </p:nvSpPr>
        <p:spPr>
          <a:xfrm>
            <a:off x="457200" y="6496050"/>
            <a:ext cx="7239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00">
                <a:solidFill>
                  <a:srgbClr val="8A8176"/>
                </a:solidFill>
                <a:latin typeface="Arial"/>
                <a:ea typeface="Arial"/>
                <a:cs typeface="Arial"/>
                <a:sym typeface="Arial"/>
              </a:rPr>
              <a:t>Proof object: sitemap các trang public, mua hàng, tài khoản và admin</a:t>
            </a:r>
            <a:endParaRPr/>
          </a:p>
        </p:txBody>
      </p:sp>
      <p:sp>
        <p:nvSpPr>
          <p:cNvPr id="97" name="Google Shape;97;p4"/>
          <p:cNvSpPr/>
          <p:nvPr/>
        </p:nvSpPr>
        <p:spPr>
          <a:xfrm>
            <a:off x="11315700" y="6457950"/>
            <a:ext cx="428625"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8A8176"/>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102" name="Shape 102"/>
        <p:cNvGrpSpPr/>
        <p:nvPr/>
      </p:nvGrpSpPr>
      <p:grpSpPr>
        <a:xfrm>
          <a:off x="0" y="0"/>
          <a:ext cx="0" cy="0"/>
          <a:chOff x="0" y="0"/>
          <a:chExt cx="0" cy="0"/>
        </a:xfrm>
      </p:grpSpPr>
      <p:sp>
        <p:nvSpPr>
          <p:cNvPr id="103" name="Google Shape;103;p5"/>
          <p:cNvSpPr/>
          <p:nvPr/>
        </p:nvSpPr>
        <p:spPr>
          <a:xfrm>
            <a:off x="457200" y="381000"/>
            <a:ext cx="3429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50">
                <a:solidFill>
                  <a:srgbClr val="254F45"/>
                </a:solidFill>
                <a:latin typeface="Arial"/>
                <a:ea typeface="Arial"/>
                <a:cs typeface="Arial"/>
                <a:sym typeface="Arial"/>
              </a:rPr>
              <a:t>LUỒNG MUA HÀNG</a:t>
            </a:r>
            <a:endParaRPr/>
          </a:p>
        </p:txBody>
      </p:sp>
      <p:sp>
        <p:nvSpPr>
          <p:cNvPr id="104" name="Google Shape;104;p5"/>
          <p:cNvSpPr/>
          <p:nvPr/>
        </p:nvSpPr>
        <p:spPr>
          <a:xfrm>
            <a:off x="457200" y="742950"/>
            <a:ext cx="7048500" cy="990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925">
                <a:solidFill>
                  <a:srgbClr val="1C1917"/>
                </a:solidFill>
                <a:latin typeface="Georgia"/>
                <a:ea typeface="Georgia"/>
                <a:cs typeface="Georgia"/>
                <a:sym typeface="Georgia"/>
              </a:rPr>
              <a:t>Người mua đi qua 5 bước rõ ràng từ khám phá sản phẩm đến xác nhận đơn.</a:t>
            </a:r>
            <a:endParaRPr/>
          </a:p>
        </p:txBody>
      </p:sp>
      <p:sp>
        <p:nvSpPr>
          <p:cNvPr id="105" name="Google Shape;105;p5"/>
          <p:cNvSpPr/>
          <p:nvPr/>
        </p:nvSpPr>
        <p:spPr>
          <a:xfrm>
            <a:off x="666750" y="2571750"/>
            <a:ext cx="1762125" cy="838200"/>
          </a:xfrm>
          <a:prstGeom prst="roundRect">
            <a:avLst>
              <a:gd fmla="val 18182" name="adj"/>
            </a:avLst>
          </a:prstGeom>
          <a:solidFill>
            <a:srgbClr val="F1E8DB"/>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838200" y="2724150"/>
            <a:ext cx="141922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0">
                <a:solidFill>
                  <a:srgbClr val="1C1917"/>
                </a:solidFill>
                <a:latin typeface="Arial"/>
                <a:ea typeface="Arial"/>
                <a:cs typeface="Arial"/>
                <a:sym typeface="Arial"/>
              </a:rPr>
              <a:t>Khám phá</a:t>
            </a:r>
            <a:endParaRPr/>
          </a:p>
        </p:txBody>
      </p:sp>
      <p:sp>
        <p:nvSpPr>
          <p:cNvPr id="107" name="Google Shape;107;p5"/>
          <p:cNvSpPr/>
          <p:nvPr/>
        </p:nvSpPr>
        <p:spPr>
          <a:xfrm>
            <a:off x="838200" y="3028950"/>
            <a:ext cx="141922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050">
                <a:solidFill>
                  <a:srgbClr val="78716C"/>
                </a:solidFill>
                <a:latin typeface="Arial"/>
                <a:ea typeface="Arial"/>
                <a:cs typeface="Arial"/>
                <a:sym typeface="Arial"/>
              </a:rPr>
              <a:t>Trang chủ / blog</a:t>
            </a:r>
            <a:endParaRPr/>
          </a:p>
        </p:txBody>
      </p:sp>
      <p:sp>
        <p:nvSpPr>
          <p:cNvPr id="108" name="Google Shape;108;p5"/>
          <p:cNvSpPr/>
          <p:nvPr/>
        </p:nvSpPr>
        <p:spPr>
          <a:xfrm>
            <a:off x="2543175" y="2743200"/>
            <a:ext cx="333375"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2850">
                <a:solidFill>
                  <a:srgbClr val="B46A3C"/>
                </a:solidFill>
                <a:latin typeface="Arial"/>
                <a:ea typeface="Arial"/>
                <a:cs typeface="Arial"/>
                <a:sym typeface="Arial"/>
              </a:rPr>
              <a:t>→</a:t>
            </a:r>
            <a:endParaRPr/>
          </a:p>
        </p:txBody>
      </p:sp>
      <p:sp>
        <p:nvSpPr>
          <p:cNvPr id="109" name="Google Shape;109;p5"/>
          <p:cNvSpPr/>
          <p:nvPr/>
        </p:nvSpPr>
        <p:spPr>
          <a:xfrm>
            <a:off x="2933700" y="2571750"/>
            <a:ext cx="1762125" cy="838200"/>
          </a:xfrm>
          <a:prstGeom prst="roundRect">
            <a:avLst>
              <a:gd fmla="val 18182" name="adj"/>
            </a:avLst>
          </a:prstGeom>
          <a:solidFill>
            <a:srgbClr val="FFFDFC"/>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3105150" y="2724150"/>
            <a:ext cx="141922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0">
                <a:solidFill>
                  <a:srgbClr val="1C1917"/>
                </a:solidFill>
                <a:latin typeface="Arial"/>
                <a:ea typeface="Arial"/>
                <a:cs typeface="Arial"/>
                <a:sym typeface="Arial"/>
              </a:rPr>
              <a:t>Tìm &amp; lọc</a:t>
            </a:r>
            <a:endParaRPr/>
          </a:p>
        </p:txBody>
      </p:sp>
      <p:sp>
        <p:nvSpPr>
          <p:cNvPr id="111" name="Google Shape;111;p5"/>
          <p:cNvSpPr/>
          <p:nvPr/>
        </p:nvSpPr>
        <p:spPr>
          <a:xfrm>
            <a:off x="3105150" y="3028950"/>
            <a:ext cx="141922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050">
                <a:solidFill>
                  <a:srgbClr val="78716C"/>
                </a:solidFill>
                <a:latin typeface="Arial"/>
                <a:ea typeface="Arial"/>
                <a:cs typeface="Arial"/>
                <a:sym typeface="Arial"/>
              </a:rPr>
              <a:t>Cửa hàng, danh mục</a:t>
            </a:r>
            <a:endParaRPr/>
          </a:p>
        </p:txBody>
      </p:sp>
      <p:sp>
        <p:nvSpPr>
          <p:cNvPr id="112" name="Google Shape;112;p5"/>
          <p:cNvSpPr/>
          <p:nvPr/>
        </p:nvSpPr>
        <p:spPr>
          <a:xfrm>
            <a:off x="4810125" y="2743200"/>
            <a:ext cx="333375"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2850">
                <a:solidFill>
                  <a:srgbClr val="B46A3C"/>
                </a:solidFill>
                <a:latin typeface="Arial"/>
                <a:ea typeface="Arial"/>
                <a:cs typeface="Arial"/>
                <a:sym typeface="Arial"/>
              </a:rPr>
              <a:t>→</a:t>
            </a:r>
            <a:endParaRPr/>
          </a:p>
        </p:txBody>
      </p:sp>
      <p:sp>
        <p:nvSpPr>
          <p:cNvPr id="113" name="Google Shape;113;p5"/>
          <p:cNvSpPr/>
          <p:nvPr/>
        </p:nvSpPr>
        <p:spPr>
          <a:xfrm>
            <a:off x="5200650" y="2571750"/>
            <a:ext cx="1762125" cy="838200"/>
          </a:xfrm>
          <a:prstGeom prst="roundRect">
            <a:avLst>
              <a:gd fmla="val 18182" name="adj"/>
            </a:avLst>
          </a:prstGeom>
          <a:solidFill>
            <a:srgbClr val="F1E8DB"/>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5372100" y="2724150"/>
            <a:ext cx="141922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0">
                <a:solidFill>
                  <a:srgbClr val="1C1917"/>
                </a:solidFill>
                <a:latin typeface="Arial"/>
                <a:ea typeface="Arial"/>
                <a:cs typeface="Arial"/>
                <a:sym typeface="Arial"/>
              </a:rPr>
              <a:t>Đánh giá</a:t>
            </a:r>
            <a:endParaRPr/>
          </a:p>
        </p:txBody>
      </p:sp>
      <p:sp>
        <p:nvSpPr>
          <p:cNvPr id="115" name="Google Shape;115;p5"/>
          <p:cNvSpPr/>
          <p:nvPr/>
        </p:nvSpPr>
        <p:spPr>
          <a:xfrm>
            <a:off x="5372100" y="3028950"/>
            <a:ext cx="141922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050">
                <a:solidFill>
                  <a:srgbClr val="78716C"/>
                </a:solidFill>
                <a:latin typeface="Arial"/>
                <a:ea typeface="Arial"/>
                <a:cs typeface="Arial"/>
                <a:sym typeface="Arial"/>
              </a:rPr>
              <a:t>Chi tiết, tình trạng</a:t>
            </a:r>
            <a:endParaRPr/>
          </a:p>
        </p:txBody>
      </p:sp>
      <p:sp>
        <p:nvSpPr>
          <p:cNvPr id="116" name="Google Shape;116;p5"/>
          <p:cNvSpPr/>
          <p:nvPr/>
        </p:nvSpPr>
        <p:spPr>
          <a:xfrm>
            <a:off x="7077075" y="2743200"/>
            <a:ext cx="333375"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2850">
                <a:solidFill>
                  <a:srgbClr val="B46A3C"/>
                </a:solidFill>
                <a:latin typeface="Arial"/>
                <a:ea typeface="Arial"/>
                <a:cs typeface="Arial"/>
                <a:sym typeface="Arial"/>
              </a:rPr>
              <a:t>→</a:t>
            </a:r>
            <a:endParaRPr/>
          </a:p>
        </p:txBody>
      </p:sp>
      <p:sp>
        <p:nvSpPr>
          <p:cNvPr id="117" name="Google Shape;117;p5"/>
          <p:cNvSpPr/>
          <p:nvPr/>
        </p:nvSpPr>
        <p:spPr>
          <a:xfrm>
            <a:off x="7467600" y="2571750"/>
            <a:ext cx="1762125" cy="838200"/>
          </a:xfrm>
          <a:prstGeom prst="roundRect">
            <a:avLst>
              <a:gd fmla="val 18182" name="adj"/>
            </a:avLst>
          </a:prstGeom>
          <a:solidFill>
            <a:srgbClr val="FFFDFC"/>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7639050" y="2724150"/>
            <a:ext cx="141922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0">
                <a:solidFill>
                  <a:srgbClr val="1C1917"/>
                </a:solidFill>
                <a:latin typeface="Arial"/>
                <a:ea typeface="Arial"/>
                <a:cs typeface="Arial"/>
                <a:sym typeface="Arial"/>
              </a:rPr>
              <a:t>Đặt mua</a:t>
            </a:r>
            <a:endParaRPr/>
          </a:p>
        </p:txBody>
      </p:sp>
      <p:sp>
        <p:nvSpPr>
          <p:cNvPr id="119" name="Google Shape;119;p5"/>
          <p:cNvSpPr/>
          <p:nvPr/>
        </p:nvSpPr>
        <p:spPr>
          <a:xfrm>
            <a:off x="7639050" y="3028950"/>
            <a:ext cx="141922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050">
                <a:solidFill>
                  <a:srgbClr val="78716C"/>
                </a:solidFill>
                <a:latin typeface="Arial"/>
                <a:ea typeface="Arial"/>
                <a:cs typeface="Arial"/>
                <a:sym typeface="Arial"/>
              </a:rPr>
              <a:t>Giỏ hàng, checkout</a:t>
            </a:r>
            <a:endParaRPr/>
          </a:p>
        </p:txBody>
      </p:sp>
      <p:sp>
        <p:nvSpPr>
          <p:cNvPr id="120" name="Google Shape;120;p5"/>
          <p:cNvSpPr/>
          <p:nvPr/>
        </p:nvSpPr>
        <p:spPr>
          <a:xfrm>
            <a:off x="9344025" y="2743200"/>
            <a:ext cx="333375"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2850">
                <a:solidFill>
                  <a:srgbClr val="B46A3C"/>
                </a:solidFill>
                <a:latin typeface="Arial"/>
                <a:ea typeface="Arial"/>
                <a:cs typeface="Arial"/>
                <a:sym typeface="Arial"/>
              </a:rPr>
              <a:t>→</a:t>
            </a:r>
            <a:endParaRPr/>
          </a:p>
        </p:txBody>
      </p:sp>
      <p:sp>
        <p:nvSpPr>
          <p:cNvPr id="121" name="Google Shape;121;p5"/>
          <p:cNvSpPr/>
          <p:nvPr/>
        </p:nvSpPr>
        <p:spPr>
          <a:xfrm>
            <a:off x="9734550" y="2571750"/>
            <a:ext cx="1762125" cy="838200"/>
          </a:xfrm>
          <a:prstGeom prst="roundRect">
            <a:avLst>
              <a:gd fmla="val 18182" name="adj"/>
            </a:avLst>
          </a:prstGeom>
          <a:solidFill>
            <a:srgbClr val="F1E8DB"/>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9906000" y="2724150"/>
            <a:ext cx="141922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0">
                <a:solidFill>
                  <a:srgbClr val="1C1917"/>
                </a:solidFill>
                <a:latin typeface="Arial"/>
                <a:ea typeface="Arial"/>
                <a:cs typeface="Arial"/>
                <a:sym typeface="Arial"/>
              </a:rPr>
              <a:t>Theo dõi</a:t>
            </a:r>
            <a:endParaRPr/>
          </a:p>
        </p:txBody>
      </p:sp>
      <p:sp>
        <p:nvSpPr>
          <p:cNvPr id="123" name="Google Shape;123;p5"/>
          <p:cNvSpPr/>
          <p:nvPr/>
        </p:nvSpPr>
        <p:spPr>
          <a:xfrm>
            <a:off x="9906000" y="3028950"/>
            <a:ext cx="141922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050">
                <a:solidFill>
                  <a:srgbClr val="78716C"/>
                </a:solidFill>
                <a:latin typeface="Arial"/>
                <a:ea typeface="Arial"/>
                <a:cs typeface="Arial"/>
                <a:sym typeface="Arial"/>
              </a:rPr>
              <a:t>Tài khoản, đơn hàng</a:t>
            </a:r>
            <a:endParaRPr/>
          </a:p>
        </p:txBody>
      </p:sp>
      <p:sp>
        <p:nvSpPr>
          <p:cNvPr id="124" name="Google Shape;124;p5"/>
          <p:cNvSpPr/>
          <p:nvPr/>
        </p:nvSpPr>
        <p:spPr>
          <a:xfrm>
            <a:off x="933450" y="4095750"/>
            <a:ext cx="10239375" cy="914400"/>
          </a:xfrm>
          <a:prstGeom prst="roundRect">
            <a:avLst>
              <a:gd fmla="val 18750" name="adj"/>
            </a:avLst>
          </a:prstGeom>
          <a:solidFill>
            <a:srgbClr val="FFFDFC"/>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1219200" y="4333875"/>
            <a:ext cx="21907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50">
                <a:solidFill>
                  <a:srgbClr val="254F45"/>
                </a:solidFill>
                <a:latin typeface="Arial"/>
                <a:ea typeface="Arial"/>
                <a:cs typeface="Arial"/>
                <a:sym typeface="Arial"/>
              </a:rPr>
              <a:t>Điểm thiết kế chính</a:t>
            </a:r>
            <a:endParaRPr/>
          </a:p>
        </p:txBody>
      </p:sp>
      <p:sp>
        <p:nvSpPr>
          <p:cNvPr id="126" name="Google Shape;126;p5"/>
          <p:cNvSpPr/>
          <p:nvPr/>
        </p:nvSpPr>
        <p:spPr>
          <a:xfrm>
            <a:off x="3476625" y="4286250"/>
            <a:ext cx="723900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00">
                <a:solidFill>
                  <a:srgbClr val="1C1917"/>
                </a:solidFill>
                <a:latin typeface="Arial"/>
                <a:ea typeface="Arial"/>
                <a:cs typeface="Arial"/>
                <a:sym typeface="Arial"/>
              </a:rPr>
              <a:t>Với đồ gốm sứ qua sử dụng, trang chi tiết sản phẩm cần thể hiện rõ giá, tình trạng, số lượng tồn và mô tả để người mua có đủ thông tin trước khi đặt hàng.</a:t>
            </a:r>
            <a:endParaRPr/>
          </a:p>
        </p:txBody>
      </p:sp>
      <p:sp>
        <p:nvSpPr>
          <p:cNvPr id="127" name="Google Shape;127;p5"/>
          <p:cNvSpPr/>
          <p:nvPr/>
        </p:nvSpPr>
        <p:spPr>
          <a:xfrm>
            <a:off x="457200" y="6496050"/>
            <a:ext cx="7239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00">
                <a:solidFill>
                  <a:srgbClr val="8A8176"/>
                </a:solidFill>
                <a:latin typeface="Arial"/>
                <a:ea typeface="Arial"/>
                <a:cs typeface="Arial"/>
                <a:sym typeface="Arial"/>
              </a:rPr>
              <a:t>Nguồn: Báo cáo đề tài website mua bán đồ gốm sứ qua sử dụng</a:t>
            </a:r>
            <a:endParaRPr/>
          </a:p>
        </p:txBody>
      </p:sp>
      <p:sp>
        <p:nvSpPr>
          <p:cNvPr id="128" name="Google Shape;128;p5"/>
          <p:cNvSpPr/>
          <p:nvPr/>
        </p:nvSpPr>
        <p:spPr>
          <a:xfrm>
            <a:off x="11315700" y="6457950"/>
            <a:ext cx="428625"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8A8176"/>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133" name="Shape 133"/>
        <p:cNvGrpSpPr/>
        <p:nvPr/>
      </p:nvGrpSpPr>
      <p:grpSpPr>
        <a:xfrm>
          <a:off x="0" y="0"/>
          <a:ext cx="0" cy="0"/>
          <a:chOff x="0" y="0"/>
          <a:chExt cx="0" cy="0"/>
        </a:xfrm>
      </p:grpSpPr>
      <p:sp>
        <p:nvSpPr>
          <p:cNvPr id="134" name="Google Shape;134;p6"/>
          <p:cNvSpPr/>
          <p:nvPr/>
        </p:nvSpPr>
        <p:spPr>
          <a:xfrm>
            <a:off x="457200" y="381000"/>
            <a:ext cx="3429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50">
                <a:solidFill>
                  <a:srgbClr val="254F45"/>
                </a:solidFill>
                <a:latin typeface="Arial"/>
                <a:ea typeface="Arial"/>
                <a:cs typeface="Arial"/>
                <a:sym typeface="Arial"/>
              </a:rPr>
              <a:t>GIAO DIỆN PUBLIC</a:t>
            </a:r>
            <a:endParaRPr/>
          </a:p>
        </p:txBody>
      </p:sp>
      <p:sp>
        <p:nvSpPr>
          <p:cNvPr id="135" name="Google Shape;135;p6"/>
          <p:cNvSpPr/>
          <p:nvPr/>
        </p:nvSpPr>
        <p:spPr>
          <a:xfrm>
            <a:off x="457200" y="742950"/>
            <a:ext cx="7048500" cy="990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925">
                <a:solidFill>
                  <a:srgbClr val="1C1917"/>
                </a:solidFill>
                <a:latin typeface="Georgia"/>
                <a:ea typeface="Georgia"/>
                <a:cs typeface="Georgia"/>
                <a:sym typeface="Georgia"/>
              </a:rPr>
              <a:t>Trang chủ và cửa hàng giúp xem, lọc và đọc tình trạng nhanh.</a:t>
            </a:r>
            <a:endParaRPr/>
          </a:p>
        </p:txBody>
      </p:sp>
      <p:pic>
        <p:nvPicPr>
          <p:cNvPr id="136" name="Google Shape;136;p6"/>
          <p:cNvPicPr preferRelativeResize="0"/>
          <p:nvPr/>
        </p:nvPicPr>
        <p:blipFill rotWithShape="1">
          <a:blip r:embed="rId3">
            <a:alphaModFix/>
          </a:blip>
          <a:srcRect b="0" l="0" r="0" t="0"/>
          <a:stretch/>
        </p:blipFill>
        <p:spPr>
          <a:xfrm>
            <a:off x="609600" y="1817688"/>
            <a:ext cx="5191125" cy="3460750"/>
          </a:xfrm>
          <a:prstGeom prst="rect">
            <a:avLst/>
          </a:prstGeom>
          <a:noFill/>
          <a:ln>
            <a:noFill/>
          </a:ln>
        </p:spPr>
      </p:pic>
      <p:pic>
        <p:nvPicPr>
          <p:cNvPr id="137" name="Google Shape;137;p6"/>
          <p:cNvPicPr preferRelativeResize="0"/>
          <p:nvPr/>
        </p:nvPicPr>
        <p:blipFill rotWithShape="1">
          <a:blip r:embed="rId4">
            <a:alphaModFix/>
          </a:blip>
          <a:srcRect b="0" l="0" r="0" t="0"/>
          <a:stretch/>
        </p:blipFill>
        <p:spPr>
          <a:xfrm>
            <a:off x="6362700" y="1817688"/>
            <a:ext cx="5191125" cy="3460750"/>
          </a:xfrm>
          <a:prstGeom prst="rect">
            <a:avLst/>
          </a:prstGeom>
          <a:noFill/>
          <a:ln>
            <a:noFill/>
          </a:ln>
        </p:spPr>
      </p:pic>
      <p:sp>
        <p:nvSpPr>
          <p:cNvPr id="138" name="Google Shape;138;p6"/>
          <p:cNvSpPr/>
          <p:nvPr/>
        </p:nvSpPr>
        <p:spPr>
          <a:xfrm>
            <a:off x="762000" y="5524500"/>
            <a:ext cx="476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75">
                <a:solidFill>
                  <a:srgbClr val="78716C"/>
                </a:solidFill>
                <a:latin typeface="Arial"/>
                <a:ea typeface="Arial"/>
                <a:cs typeface="Arial"/>
                <a:sym typeface="Arial"/>
              </a:rPr>
              <a:t>Trang chủ: định vị sản phẩm, sản phẩm nổi bật, lời dẫn mua hàng.</a:t>
            </a:r>
            <a:endParaRPr/>
          </a:p>
        </p:txBody>
      </p:sp>
      <p:sp>
        <p:nvSpPr>
          <p:cNvPr id="139" name="Google Shape;139;p6"/>
          <p:cNvSpPr/>
          <p:nvPr/>
        </p:nvSpPr>
        <p:spPr>
          <a:xfrm>
            <a:off x="6515100" y="5524500"/>
            <a:ext cx="476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75">
                <a:solidFill>
                  <a:srgbClr val="78716C"/>
                </a:solidFill>
                <a:latin typeface="Arial"/>
                <a:ea typeface="Arial"/>
                <a:cs typeface="Arial"/>
                <a:sym typeface="Arial"/>
              </a:rPr>
              <a:t>Cửa hàng: tìm kiếm, lọc danh mục, sắp xếp và danh sách sản phẩm.</a:t>
            </a:r>
            <a:endParaRPr/>
          </a:p>
        </p:txBody>
      </p:sp>
      <p:sp>
        <p:nvSpPr>
          <p:cNvPr id="140" name="Google Shape;140;p6"/>
          <p:cNvSpPr/>
          <p:nvPr/>
        </p:nvSpPr>
        <p:spPr>
          <a:xfrm>
            <a:off x="457200" y="6496050"/>
            <a:ext cx="7239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00">
                <a:solidFill>
                  <a:srgbClr val="8A8176"/>
                </a:solidFill>
                <a:latin typeface="Arial"/>
                <a:ea typeface="Arial"/>
                <a:cs typeface="Arial"/>
                <a:sym typeface="Arial"/>
              </a:rPr>
              <a:t>Ảnh giao diện được dựng từ route frontend của project</a:t>
            </a:r>
            <a:endParaRPr/>
          </a:p>
        </p:txBody>
      </p:sp>
      <p:sp>
        <p:nvSpPr>
          <p:cNvPr id="141" name="Google Shape;141;p6"/>
          <p:cNvSpPr/>
          <p:nvPr/>
        </p:nvSpPr>
        <p:spPr>
          <a:xfrm>
            <a:off x="11315700" y="6457950"/>
            <a:ext cx="428625"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8A8176"/>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146" name="Shape 146"/>
        <p:cNvGrpSpPr/>
        <p:nvPr/>
      </p:nvGrpSpPr>
      <p:grpSpPr>
        <a:xfrm>
          <a:off x="0" y="0"/>
          <a:ext cx="0" cy="0"/>
          <a:chOff x="0" y="0"/>
          <a:chExt cx="0" cy="0"/>
        </a:xfrm>
      </p:grpSpPr>
      <p:sp>
        <p:nvSpPr>
          <p:cNvPr id="147" name="Google Shape;147;p7"/>
          <p:cNvSpPr/>
          <p:nvPr/>
        </p:nvSpPr>
        <p:spPr>
          <a:xfrm>
            <a:off x="457200" y="381000"/>
            <a:ext cx="3429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50">
                <a:solidFill>
                  <a:srgbClr val="254F45"/>
                </a:solidFill>
                <a:latin typeface="Arial"/>
                <a:ea typeface="Arial"/>
                <a:cs typeface="Arial"/>
                <a:sym typeface="Arial"/>
              </a:rPr>
              <a:t>CHẶNG CUỐI MUA HÀNG</a:t>
            </a:r>
            <a:endParaRPr/>
          </a:p>
        </p:txBody>
      </p:sp>
      <p:sp>
        <p:nvSpPr>
          <p:cNvPr id="148" name="Google Shape;148;p7"/>
          <p:cNvSpPr/>
          <p:nvPr/>
        </p:nvSpPr>
        <p:spPr>
          <a:xfrm>
            <a:off x="457200" y="742950"/>
            <a:ext cx="7048500" cy="990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925">
                <a:solidFill>
                  <a:srgbClr val="1C1917"/>
                </a:solidFill>
                <a:latin typeface="Georgia"/>
                <a:ea typeface="Georgia"/>
                <a:cs typeface="Georgia"/>
                <a:sym typeface="Georgia"/>
              </a:rPr>
              <a:t>Chi tiết sản phẩm và checkout làm rõ quyết định mua trước khi tạo đơn.</a:t>
            </a:r>
            <a:endParaRPr/>
          </a:p>
        </p:txBody>
      </p:sp>
      <p:pic>
        <p:nvPicPr>
          <p:cNvPr id="149" name="Google Shape;149;p7"/>
          <p:cNvPicPr preferRelativeResize="0"/>
          <p:nvPr/>
        </p:nvPicPr>
        <p:blipFill rotWithShape="1">
          <a:blip r:embed="rId3">
            <a:alphaModFix/>
          </a:blip>
          <a:srcRect b="0" l="0" r="0" t="0"/>
          <a:stretch/>
        </p:blipFill>
        <p:spPr>
          <a:xfrm>
            <a:off x="590550" y="1703388"/>
            <a:ext cx="5191125" cy="3460750"/>
          </a:xfrm>
          <a:prstGeom prst="rect">
            <a:avLst/>
          </a:prstGeom>
          <a:noFill/>
          <a:ln>
            <a:noFill/>
          </a:ln>
        </p:spPr>
      </p:pic>
      <p:pic>
        <p:nvPicPr>
          <p:cNvPr id="150" name="Google Shape;150;p7"/>
          <p:cNvPicPr preferRelativeResize="0"/>
          <p:nvPr/>
        </p:nvPicPr>
        <p:blipFill rotWithShape="1">
          <a:blip r:embed="rId4">
            <a:alphaModFix/>
          </a:blip>
          <a:srcRect b="0" l="0" r="0" t="0"/>
          <a:stretch/>
        </p:blipFill>
        <p:spPr>
          <a:xfrm>
            <a:off x="6362700" y="1703388"/>
            <a:ext cx="5191125" cy="3460750"/>
          </a:xfrm>
          <a:prstGeom prst="rect">
            <a:avLst/>
          </a:prstGeom>
          <a:noFill/>
          <a:ln>
            <a:noFill/>
          </a:ln>
        </p:spPr>
      </p:pic>
      <p:sp>
        <p:nvSpPr>
          <p:cNvPr id="151" name="Google Shape;151;p7"/>
          <p:cNvSpPr/>
          <p:nvPr/>
        </p:nvSpPr>
        <p:spPr>
          <a:xfrm>
            <a:off x="876300" y="5638800"/>
            <a:ext cx="95250" cy="952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1104900" y="5572125"/>
            <a:ext cx="10058400" cy="419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C1917"/>
              </a:buClr>
              <a:buSzPts val="1350"/>
              <a:buFont typeface="Arial"/>
              <a:buNone/>
            </a:pPr>
            <a:r>
              <a:rPr b="0" i="0" lang="en-US" sz="1350">
                <a:solidFill>
                  <a:srgbClr val="1C1917"/>
                </a:solidFill>
                <a:latin typeface="Arial"/>
                <a:ea typeface="Arial"/>
                <a:cs typeface="Arial"/>
                <a:sym typeface="Arial"/>
              </a:rPr>
              <a:t>Chi tiết sản phẩm nhấn mạnh giá, tình trạng, tồn kho và thao tác mua.</a:t>
            </a:r>
            <a:endParaRPr/>
          </a:p>
        </p:txBody>
      </p:sp>
      <p:sp>
        <p:nvSpPr>
          <p:cNvPr id="153" name="Google Shape;153;p7"/>
          <p:cNvSpPr/>
          <p:nvPr/>
        </p:nvSpPr>
        <p:spPr>
          <a:xfrm>
            <a:off x="876300" y="6153150"/>
            <a:ext cx="95250" cy="952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p:nvPr/>
        </p:nvSpPr>
        <p:spPr>
          <a:xfrm>
            <a:off x="1104900" y="6086475"/>
            <a:ext cx="10058400" cy="419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C1917"/>
              </a:buClr>
              <a:buSzPts val="1350"/>
              <a:buFont typeface="Arial"/>
              <a:buNone/>
            </a:pPr>
            <a:r>
              <a:rPr b="0" i="0" lang="en-US" sz="1350">
                <a:solidFill>
                  <a:srgbClr val="1C1917"/>
                </a:solidFill>
                <a:latin typeface="Arial"/>
                <a:ea typeface="Arial"/>
                <a:cs typeface="Arial"/>
                <a:sym typeface="Arial"/>
              </a:rPr>
              <a:t>Checkout tách thông tin giao hàng và tóm tắt đơn để giảm nhầm lẫn.</a:t>
            </a:r>
            <a:endParaRPr/>
          </a:p>
        </p:txBody>
      </p:sp>
      <p:sp>
        <p:nvSpPr>
          <p:cNvPr id="155" name="Google Shape;155;p7"/>
          <p:cNvSpPr/>
          <p:nvPr/>
        </p:nvSpPr>
        <p:spPr>
          <a:xfrm>
            <a:off x="457200" y="6496050"/>
            <a:ext cx="7239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00">
                <a:solidFill>
                  <a:srgbClr val="8A8176"/>
                </a:solidFill>
                <a:latin typeface="Arial"/>
                <a:ea typeface="Arial"/>
                <a:cs typeface="Arial"/>
                <a:sym typeface="Arial"/>
              </a:rPr>
              <a:t>Nguồn: Báo cáo đề tài website mua bán đồ gốm sứ qua sử dụng</a:t>
            </a:r>
            <a:endParaRPr/>
          </a:p>
        </p:txBody>
      </p:sp>
      <p:sp>
        <p:nvSpPr>
          <p:cNvPr id="156" name="Google Shape;156;p7"/>
          <p:cNvSpPr/>
          <p:nvPr/>
        </p:nvSpPr>
        <p:spPr>
          <a:xfrm>
            <a:off x="11315700" y="6457950"/>
            <a:ext cx="428625"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8A8176"/>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161" name="Shape 161"/>
        <p:cNvGrpSpPr/>
        <p:nvPr/>
      </p:nvGrpSpPr>
      <p:grpSpPr>
        <a:xfrm>
          <a:off x="0" y="0"/>
          <a:ext cx="0" cy="0"/>
          <a:chOff x="0" y="0"/>
          <a:chExt cx="0" cy="0"/>
        </a:xfrm>
      </p:grpSpPr>
      <p:sp>
        <p:nvSpPr>
          <p:cNvPr id="162" name="Google Shape;162;p8"/>
          <p:cNvSpPr/>
          <p:nvPr/>
        </p:nvSpPr>
        <p:spPr>
          <a:xfrm>
            <a:off x="457200" y="381000"/>
            <a:ext cx="3429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50">
                <a:solidFill>
                  <a:srgbClr val="254F45"/>
                </a:solidFill>
                <a:latin typeface="Arial"/>
                <a:ea typeface="Arial"/>
                <a:cs typeface="Arial"/>
                <a:sym typeface="Arial"/>
              </a:rPr>
              <a:t>KHU VỰC ADMIN</a:t>
            </a:r>
            <a:endParaRPr/>
          </a:p>
        </p:txBody>
      </p:sp>
      <p:sp>
        <p:nvSpPr>
          <p:cNvPr id="163" name="Google Shape;163;p8"/>
          <p:cNvSpPr/>
          <p:nvPr/>
        </p:nvSpPr>
        <p:spPr>
          <a:xfrm>
            <a:off x="457200" y="742950"/>
            <a:ext cx="7048500" cy="990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925">
                <a:solidFill>
                  <a:srgbClr val="1C1917"/>
                </a:solidFill>
                <a:latin typeface="Georgia"/>
                <a:ea typeface="Georgia"/>
                <a:cs typeface="Georgia"/>
                <a:sym typeface="Georgia"/>
              </a:rPr>
              <a:t>Admin biến dữ liệu mua bán thành một màn hình vận hành có thể theo dõi.</a:t>
            </a:r>
            <a:endParaRPr/>
          </a:p>
        </p:txBody>
      </p:sp>
      <p:pic>
        <p:nvPicPr>
          <p:cNvPr id="164" name="Google Shape;164;p8"/>
          <p:cNvPicPr preferRelativeResize="0"/>
          <p:nvPr/>
        </p:nvPicPr>
        <p:blipFill rotWithShape="1">
          <a:blip r:embed="rId3">
            <a:alphaModFix/>
          </a:blip>
          <a:srcRect b="0" l="0" r="0" t="0"/>
          <a:stretch/>
        </p:blipFill>
        <p:spPr>
          <a:xfrm>
            <a:off x="1071563" y="1695450"/>
            <a:ext cx="5572125" cy="3714750"/>
          </a:xfrm>
          <a:prstGeom prst="rect">
            <a:avLst/>
          </a:prstGeom>
          <a:noFill/>
          <a:ln>
            <a:noFill/>
          </a:ln>
        </p:spPr>
      </p:pic>
      <p:sp>
        <p:nvSpPr>
          <p:cNvPr id="165" name="Google Shape;165;p8"/>
          <p:cNvSpPr/>
          <p:nvPr/>
        </p:nvSpPr>
        <p:spPr>
          <a:xfrm>
            <a:off x="7477125" y="1857375"/>
            <a:ext cx="2381250" cy="1190625"/>
          </a:xfrm>
          <a:prstGeom prst="roundRect">
            <a:avLst>
              <a:gd fmla="val 12800" name="adj"/>
            </a:avLst>
          </a:prstGeom>
          <a:solidFill>
            <a:srgbClr val="FFFFF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p:nvPr/>
        </p:nvSpPr>
        <p:spPr>
          <a:xfrm>
            <a:off x="7686675" y="2028825"/>
            <a:ext cx="196215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125">
                <a:solidFill>
                  <a:srgbClr val="78716C"/>
                </a:solidFill>
                <a:latin typeface="Arial"/>
                <a:ea typeface="Arial"/>
                <a:cs typeface="Arial"/>
                <a:sym typeface="Arial"/>
              </a:rPr>
              <a:t>Doanh thu</a:t>
            </a:r>
            <a:endParaRPr/>
          </a:p>
        </p:txBody>
      </p:sp>
      <p:sp>
        <p:nvSpPr>
          <p:cNvPr id="167" name="Google Shape;167;p8"/>
          <p:cNvSpPr/>
          <p:nvPr/>
        </p:nvSpPr>
        <p:spPr>
          <a:xfrm>
            <a:off x="7686675" y="2314575"/>
            <a:ext cx="196215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100">
                <a:solidFill>
                  <a:srgbClr val="254F45"/>
                </a:solidFill>
                <a:latin typeface="Georgia"/>
                <a:ea typeface="Georgia"/>
                <a:cs typeface="Georgia"/>
                <a:sym typeface="Georgia"/>
              </a:rPr>
              <a:t>5.420.000đ</a:t>
            </a:r>
            <a:endParaRPr/>
          </a:p>
        </p:txBody>
      </p:sp>
      <p:sp>
        <p:nvSpPr>
          <p:cNvPr id="168" name="Google Shape;168;p8"/>
          <p:cNvSpPr/>
          <p:nvPr/>
        </p:nvSpPr>
        <p:spPr>
          <a:xfrm>
            <a:off x="7686675" y="2695575"/>
            <a:ext cx="19621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75">
                <a:solidFill>
                  <a:srgbClr val="78716C"/>
                </a:solidFill>
                <a:latin typeface="Arial"/>
                <a:ea typeface="Arial"/>
                <a:cs typeface="Arial"/>
                <a:sym typeface="Arial"/>
              </a:rPr>
              <a:t>Tổng từ đơn mẫu</a:t>
            </a:r>
            <a:endParaRPr/>
          </a:p>
        </p:txBody>
      </p:sp>
      <p:sp>
        <p:nvSpPr>
          <p:cNvPr id="169" name="Google Shape;169;p8"/>
          <p:cNvSpPr/>
          <p:nvPr/>
        </p:nvSpPr>
        <p:spPr>
          <a:xfrm>
            <a:off x="7477125" y="3238500"/>
            <a:ext cx="2381250" cy="1190625"/>
          </a:xfrm>
          <a:prstGeom prst="roundRect">
            <a:avLst>
              <a:gd fmla="val 12800" name="adj"/>
            </a:avLst>
          </a:prstGeom>
          <a:solidFill>
            <a:srgbClr val="FFFFF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
          <p:cNvSpPr/>
          <p:nvPr/>
        </p:nvSpPr>
        <p:spPr>
          <a:xfrm>
            <a:off x="7686675" y="3409950"/>
            <a:ext cx="196215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125">
                <a:solidFill>
                  <a:srgbClr val="78716C"/>
                </a:solidFill>
                <a:latin typeface="Arial"/>
                <a:ea typeface="Arial"/>
                <a:cs typeface="Arial"/>
                <a:sym typeface="Arial"/>
              </a:rPr>
              <a:t>Đơn hàng</a:t>
            </a:r>
            <a:endParaRPr/>
          </a:p>
        </p:txBody>
      </p:sp>
      <p:sp>
        <p:nvSpPr>
          <p:cNvPr id="171" name="Google Shape;171;p8"/>
          <p:cNvSpPr/>
          <p:nvPr/>
        </p:nvSpPr>
        <p:spPr>
          <a:xfrm>
            <a:off x="7686675" y="3695700"/>
            <a:ext cx="196215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100">
                <a:solidFill>
                  <a:srgbClr val="254F45"/>
                </a:solidFill>
                <a:latin typeface="Georgia"/>
                <a:ea typeface="Georgia"/>
                <a:cs typeface="Georgia"/>
                <a:sym typeface="Georgia"/>
              </a:rPr>
              <a:t>3</a:t>
            </a:r>
            <a:endParaRPr/>
          </a:p>
        </p:txBody>
      </p:sp>
      <p:sp>
        <p:nvSpPr>
          <p:cNvPr id="172" name="Google Shape;172;p8"/>
          <p:cNvSpPr/>
          <p:nvPr/>
        </p:nvSpPr>
        <p:spPr>
          <a:xfrm>
            <a:off x="7686675" y="4076700"/>
            <a:ext cx="19621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75">
                <a:solidFill>
                  <a:srgbClr val="78716C"/>
                </a:solidFill>
                <a:latin typeface="Arial"/>
                <a:ea typeface="Arial"/>
                <a:cs typeface="Arial"/>
                <a:sym typeface="Arial"/>
              </a:rPr>
              <a:t>Theo dữ liệu mẫu</a:t>
            </a:r>
            <a:endParaRPr/>
          </a:p>
        </p:txBody>
      </p:sp>
      <p:sp>
        <p:nvSpPr>
          <p:cNvPr id="173" name="Google Shape;173;p8"/>
          <p:cNvSpPr/>
          <p:nvPr/>
        </p:nvSpPr>
        <p:spPr>
          <a:xfrm>
            <a:off x="7477125" y="4619625"/>
            <a:ext cx="2381250" cy="1190625"/>
          </a:xfrm>
          <a:prstGeom prst="roundRect">
            <a:avLst>
              <a:gd fmla="val 12800" name="adj"/>
            </a:avLst>
          </a:prstGeom>
          <a:solidFill>
            <a:srgbClr val="FFFFF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7686675" y="4791075"/>
            <a:ext cx="196215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125">
                <a:solidFill>
                  <a:srgbClr val="78716C"/>
                </a:solidFill>
                <a:latin typeface="Arial"/>
                <a:ea typeface="Arial"/>
                <a:cs typeface="Arial"/>
                <a:sym typeface="Arial"/>
              </a:rPr>
              <a:t>Tồn kho</a:t>
            </a:r>
            <a:endParaRPr/>
          </a:p>
        </p:txBody>
      </p:sp>
      <p:sp>
        <p:nvSpPr>
          <p:cNvPr id="175" name="Google Shape;175;p8"/>
          <p:cNvSpPr/>
          <p:nvPr/>
        </p:nvSpPr>
        <p:spPr>
          <a:xfrm>
            <a:off x="7686675" y="5076825"/>
            <a:ext cx="196215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100">
                <a:solidFill>
                  <a:srgbClr val="254F45"/>
                </a:solidFill>
                <a:latin typeface="Georgia"/>
                <a:ea typeface="Georgia"/>
                <a:cs typeface="Georgia"/>
                <a:sym typeface="Georgia"/>
              </a:rPr>
              <a:t>10</a:t>
            </a:r>
            <a:endParaRPr/>
          </a:p>
        </p:txBody>
      </p:sp>
      <p:sp>
        <p:nvSpPr>
          <p:cNvPr id="176" name="Google Shape;176;p8"/>
          <p:cNvSpPr/>
          <p:nvPr/>
        </p:nvSpPr>
        <p:spPr>
          <a:xfrm>
            <a:off x="7686675" y="5457825"/>
            <a:ext cx="19621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75">
                <a:solidFill>
                  <a:srgbClr val="78716C"/>
                </a:solidFill>
                <a:latin typeface="Arial"/>
                <a:ea typeface="Arial"/>
                <a:cs typeface="Arial"/>
                <a:sym typeface="Arial"/>
              </a:rPr>
              <a:t>Tổng sản phẩm còn</a:t>
            </a:r>
            <a:endParaRPr/>
          </a:p>
        </p:txBody>
      </p:sp>
      <p:sp>
        <p:nvSpPr>
          <p:cNvPr id="177" name="Google Shape;177;p8"/>
          <p:cNvSpPr/>
          <p:nvPr/>
        </p:nvSpPr>
        <p:spPr>
          <a:xfrm>
            <a:off x="10048875" y="2333625"/>
            <a:ext cx="1238250" cy="209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25">
                <a:solidFill>
                  <a:srgbClr val="78716C"/>
                </a:solidFill>
                <a:latin typeface="Arial"/>
                <a:ea typeface="Arial"/>
                <a:cs typeface="Arial"/>
                <a:sym typeface="Arial"/>
              </a:rPr>
              <a:t>Các module admin: sản phẩm, đơn hàng, khách hàng, danh mục, báo cáo doanh thu và báo cáo tồn kho.</a:t>
            </a:r>
            <a:endParaRPr/>
          </a:p>
        </p:txBody>
      </p:sp>
      <p:sp>
        <p:nvSpPr>
          <p:cNvPr id="178" name="Google Shape;178;p8"/>
          <p:cNvSpPr/>
          <p:nvPr/>
        </p:nvSpPr>
        <p:spPr>
          <a:xfrm>
            <a:off x="457200" y="6496050"/>
            <a:ext cx="7239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00">
                <a:solidFill>
                  <a:srgbClr val="8A8176"/>
                </a:solidFill>
                <a:latin typeface="Arial"/>
                <a:ea typeface="Arial"/>
                <a:cs typeface="Arial"/>
                <a:sym typeface="Arial"/>
              </a:rPr>
              <a:t>Nguồn: Báo cáo đề tài website mua bán đồ gốm sứ qua sử dụng</a:t>
            </a:r>
            <a:endParaRPr/>
          </a:p>
        </p:txBody>
      </p:sp>
      <p:sp>
        <p:nvSpPr>
          <p:cNvPr id="179" name="Google Shape;179;p8"/>
          <p:cNvSpPr/>
          <p:nvPr/>
        </p:nvSpPr>
        <p:spPr>
          <a:xfrm>
            <a:off x="11315700" y="6457950"/>
            <a:ext cx="428625"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8A8176"/>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184" name="Shape 184"/>
        <p:cNvGrpSpPr/>
        <p:nvPr/>
      </p:nvGrpSpPr>
      <p:grpSpPr>
        <a:xfrm>
          <a:off x="0" y="0"/>
          <a:ext cx="0" cy="0"/>
          <a:chOff x="0" y="0"/>
          <a:chExt cx="0" cy="0"/>
        </a:xfrm>
      </p:grpSpPr>
      <p:sp>
        <p:nvSpPr>
          <p:cNvPr id="185" name="Google Shape;185;p9"/>
          <p:cNvSpPr/>
          <p:nvPr/>
        </p:nvSpPr>
        <p:spPr>
          <a:xfrm>
            <a:off x="457200" y="381000"/>
            <a:ext cx="3429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50">
                <a:solidFill>
                  <a:srgbClr val="254F45"/>
                </a:solidFill>
                <a:latin typeface="Arial"/>
                <a:ea typeface="Arial"/>
                <a:cs typeface="Arial"/>
                <a:sym typeface="Arial"/>
              </a:rPr>
              <a:t>KIẾN TRÚC</a:t>
            </a:r>
            <a:endParaRPr/>
          </a:p>
        </p:txBody>
      </p:sp>
      <p:sp>
        <p:nvSpPr>
          <p:cNvPr id="186" name="Google Shape;186;p9"/>
          <p:cNvSpPr/>
          <p:nvPr/>
        </p:nvSpPr>
        <p:spPr>
          <a:xfrm>
            <a:off x="457200" y="742950"/>
            <a:ext cx="7048500" cy="990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925">
                <a:solidFill>
                  <a:srgbClr val="1C1917"/>
                </a:solidFill>
                <a:latin typeface="Georgia"/>
                <a:ea typeface="Georgia"/>
                <a:cs typeface="Georgia"/>
                <a:sym typeface="Georgia"/>
              </a:rPr>
              <a:t>Next.js hiển thị trải nghiệm, Supabase giữ dữ liệu nghiệp vụ và ràng buộc quan hệ.</a:t>
            </a:r>
            <a:endParaRPr/>
          </a:p>
        </p:txBody>
      </p:sp>
      <p:sp>
        <p:nvSpPr>
          <p:cNvPr id="187" name="Google Shape;187;p9"/>
          <p:cNvSpPr/>
          <p:nvPr/>
        </p:nvSpPr>
        <p:spPr>
          <a:xfrm>
            <a:off x="857250" y="2667000"/>
            <a:ext cx="2381250" cy="838200"/>
          </a:xfrm>
          <a:prstGeom prst="roundRect">
            <a:avLst>
              <a:gd fmla="val 18182" name="adj"/>
            </a:avLst>
          </a:prstGeom>
          <a:solidFill>
            <a:srgbClr val="E9F3E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1028700" y="2819400"/>
            <a:ext cx="20383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0">
                <a:solidFill>
                  <a:srgbClr val="1C1917"/>
                </a:solidFill>
                <a:latin typeface="Arial"/>
                <a:ea typeface="Arial"/>
                <a:cs typeface="Arial"/>
                <a:sym typeface="Arial"/>
              </a:rPr>
              <a:t>Frontend</a:t>
            </a:r>
            <a:endParaRPr/>
          </a:p>
        </p:txBody>
      </p:sp>
      <p:sp>
        <p:nvSpPr>
          <p:cNvPr id="189" name="Google Shape;189;p9"/>
          <p:cNvSpPr/>
          <p:nvPr/>
        </p:nvSpPr>
        <p:spPr>
          <a:xfrm>
            <a:off x="1028700" y="3124200"/>
            <a:ext cx="20383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050">
                <a:solidFill>
                  <a:srgbClr val="78716C"/>
                </a:solidFill>
                <a:latin typeface="Arial"/>
                <a:ea typeface="Arial"/>
                <a:cs typeface="Arial"/>
                <a:sym typeface="Arial"/>
              </a:rPr>
              <a:t>Next.js · TypeScript · Tailwind</a:t>
            </a:r>
            <a:endParaRPr/>
          </a:p>
        </p:txBody>
      </p:sp>
      <p:sp>
        <p:nvSpPr>
          <p:cNvPr id="190" name="Google Shape;190;p9"/>
          <p:cNvSpPr/>
          <p:nvPr/>
        </p:nvSpPr>
        <p:spPr>
          <a:xfrm>
            <a:off x="3714750" y="2667000"/>
            <a:ext cx="2571750" cy="838200"/>
          </a:xfrm>
          <a:prstGeom prst="roundRect">
            <a:avLst>
              <a:gd fmla="val 18182" name="adj"/>
            </a:avLst>
          </a:prstGeom>
          <a:solidFill>
            <a:srgbClr val="FFFDFC"/>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3886200" y="2819400"/>
            <a:ext cx="22288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0">
                <a:solidFill>
                  <a:srgbClr val="1C1917"/>
                </a:solidFill>
                <a:latin typeface="Arial"/>
                <a:ea typeface="Arial"/>
                <a:cs typeface="Arial"/>
                <a:sym typeface="Arial"/>
              </a:rPr>
              <a:t>Component</a:t>
            </a:r>
            <a:endParaRPr/>
          </a:p>
        </p:txBody>
      </p:sp>
      <p:sp>
        <p:nvSpPr>
          <p:cNvPr id="192" name="Google Shape;192;p9"/>
          <p:cNvSpPr/>
          <p:nvPr/>
        </p:nvSpPr>
        <p:spPr>
          <a:xfrm>
            <a:off x="3886200" y="3124200"/>
            <a:ext cx="22288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050">
                <a:solidFill>
                  <a:srgbClr val="78716C"/>
                </a:solidFill>
                <a:latin typeface="Arial"/>
                <a:ea typeface="Arial"/>
                <a:cs typeface="Arial"/>
                <a:sym typeface="Arial"/>
              </a:rPr>
              <a:t>CeramicShell · ProductCard · AdminShell</a:t>
            </a:r>
            <a:endParaRPr/>
          </a:p>
        </p:txBody>
      </p:sp>
      <p:sp>
        <p:nvSpPr>
          <p:cNvPr id="193" name="Google Shape;193;p9"/>
          <p:cNvSpPr/>
          <p:nvPr/>
        </p:nvSpPr>
        <p:spPr>
          <a:xfrm>
            <a:off x="6762750" y="2667000"/>
            <a:ext cx="2190750" cy="838200"/>
          </a:xfrm>
          <a:prstGeom prst="roundRect">
            <a:avLst>
              <a:gd fmla="val 18182" name="adj"/>
            </a:avLst>
          </a:prstGeom>
          <a:solidFill>
            <a:srgbClr val="FFFDFC"/>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6934200" y="2819400"/>
            <a:ext cx="18478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0">
                <a:solidFill>
                  <a:srgbClr val="1C1917"/>
                </a:solidFill>
                <a:latin typeface="Arial"/>
                <a:ea typeface="Arial"/>
                <a:cs typeface="Arial"/>
                <a:sym typeface="Arial"/>
              </a:rPr>
              <a:t>Database</a:t>
            </a:r>
            <a:endParaRPr/>
          </a:p>
        </p:txBody>
      </p:sp>
      <p:sp>
        <p:nvSpPr>
          <p:cNvPr id="195" name="Google Shape;195;p9"/>
          <p:cNvSpPr/>
          <p:nvPr/>
        </p:nvSpPr>
        <p:spPr>
          <a:xfrm>
            <a:off x="6934200" y="3124200"/>
            <a:ext cx="18478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050">
                <a:solidFill>
                  <a:srgbClr val="78716C"/>
                </a:solidFill>
                <a:latin typeface="Arial"/>
                <a:ea typeface="Arial"/>
                <a:cs typeface="Arial"/>
                <a:sym typeface="Arial"/>
              </a:rPr>
              <a:t>Supabase PostgreSQL</a:t>
            </a:r>
            <a:endParaRPr/>
          </a:p>
        </p:txBody>
      </p:sp>
      <p:sp>
        <p:nvSpPr>
          <p:cNvPr id="196" name="Google Shape;196;p9"/>
          <p:cNvSpPr/>
          <p:nvPr/>
        </p:nvSpPr>
        <p:spPr>
          <a:xfrm>
            <a:off x="9429750" y="2667000"/>
            <a:ext cx="2095500" cy="838200"/>
          </a:xfrm>
          <a:prstGeom prst="roundRect">
            <a:avLst>
              <a:gd fmla="val 18182" name="adj"/>
            </a:avLst>
          </a:prstGeom>
          <a:solidFill>
            <a:srgbClr val="FFF2E8"/>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9601200" y="2819400"/>
            <a:ext cx="17526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0">
                <a:solidFill>
                  <a:srgbClr val="1C1917"/>
                </a:solidFill>
                <a:latin typeface="Arial"/>
                <a:ea typeface="Arial"/>
                <a:cs typeface="Arial"/>
                <a:sym typeface="Arial"/>
              </a:rPr>
              <a:t>Migration</a:t>
            </a:r>
            <a:endParaRPr/>
          </a:p>
        </p:txBody>
      </p:sp>
      <p:sp>
        <p:nvSpPr>
          <p:cNvPr id="198" name="Google Shape;198;p9"/>
          <p:cNvSpPr/>
          <p:nvPr/>
        </p:nvSpPr>
        <p:spPr>
          <a:xfrm>
            <a:off x="9601200" y="3124200"/>
            <a:ext cx="17526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050">
                <a:solidFill>
                  <a:srgbClr val="78716C"/>
                </a:solidFill>
                <a:latin typeface="Arial"/>
                <a:ea typeface="Arial"/>
                <a:cs typeface="Arial"/>
                <a:sym typeface="Arial"/>
              </a:rPr>
              <a:t>Enum · FK · Index · RLS · Seed</a:t>
            </a:r>
            <a:endParaRPr/>
          </a:p>
        </p:txBody>
      </p:sp>
      <p:sp>
        <p:nvSpPr>
          <p:cNvPr id="199" name="Google Shape;199;p9"/>
          <p:cNvSpPr/>
          <p:nvPr/>
        </p:nvSpPr>
        <p:spPr>
          <a:xfrm>
            <a:off x="3333750" y="2781300"/>
            <a:ext cx="3238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700">
                <a:solidFill>
                  <a:srgbClr val="B46A3C"/>
                </a:solidFill>
                <a:latin typeface="Arial"/>
                <a:ea typeface="Arial"/>
                <a:cs typeface="Arial"/>
                <a:sym typeface="Arial"/>
              </a:rPr>
              <a:t>→</a:t>
            </a:r>
            <a:endParaRPr/>
          </a:p>
        </p:txBody>
      </p:sp>
      <p:sp>
        <p:nvSpPr>
          <p:cNvPr id="200" name="Google Shape;200;p9"/>
          <p:cNvSpPr/>
          <p:nvPr/>
        </p:nvSpPr>
        <p:spPr>
          <a:xfrm>
            <a:off x="6381750" y="2781300"/>
            <a:ext cx="3238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700">
                <a:solidFill>
                  <a:srgbClr val="B46A3C"/>
                </a:solidFill>
                <a:latin typeface="Arial"/>
                <a:ea typeface="Arial"/>
                <a:cs typeface="Arial"/>
                <a:sym typeface="Arial"/>
              </a:rPr>
              <a:t>→</a:t>
            </a:r>
            <a:endParaRPr/>
          </a:p>
        </p:txBody>
      </p:sp>
      <p:sp>
        <p:nvSpPr>
          <p:cNvPr id="201" name="Google Shape;201;p9"/>
          <p:cNvSpPr/>
          <p:nvPr/>
        </p:nvSpPr>
        <p:spPr>
          <a:xfrm>
            <a:off x="9048750" y="2781300"/>
            <a:ext cx="3238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700">
                <a:solidFill>
                  <a:srgbClr val="B46A3C"/>
                </a:solidFill>
                <a:latin typeface="Arial"/>
                <a:ea typeface="Arial"/>
                <a:cs typeface="Arial"/>
                <a:sym typeface="Arial"/>
              </a:rPr>
              <a:t>→</a:t>
            </a:r>
            <a:endParaRPr/>
          </a:p>
        </p:txBody>
      </p:sp>
      <p:sp>
        <p:nvSpPr>
          <p:cNvPr id="202" name="Google Shape;202;p9"/>
          <p:cNvSpPr/>
          <p:nvPr/>
        </p:nvSpPr>
        <p:spPr>
          <a:xfrm>
            <a:off x="1104900" y="4333875"/>
            <a:ext cx="9906000" cy="876300"/>
          </a:xfrm>
          <a:prstGeom prst="roundRect">
            <a:avLst>
              <a:gd fmla="val 19565" name="adj"/>
            </a:avLst>
          </a:prstGeom>
          <a:solidFill>
            <a:srgbClr val="FFFFF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1409700" y="4591050"/>
            <a:ext cx="92392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50">
                <a:solidFill>
                  <a:srgbClr val="1C1917"/>
                </a:solidFill>
                <a:latin typeface="Arial"/>
                <a:ea typeface="Arial"/>
                <a:cs typeface="Arial"/>
                <a:sym typeface="Arial"/>
              </a:rPr>
              <a:t>Trong giai đoạn hiện tại, frontend dùng dữ liệu mẫu để hoàn thiện giao diện; schema Supabase đã sẵn sàng để kết nối dữ liệu thật ở bước phát triển tiếp theo.</a:t>
            </a:r>
            <a:endParaRPr/>
          </a:p>
        </p:txBody>
      </p:sp>
      <p:sp>
        <p:nvSpPr>
          <p:cNvPr id="204" name="Google Shape;204;p9"/>
          <p:cNvSpPr/>
          <p:nvPr/>
        </p:nvSpPr>
        <p:spPr>
          <a:xfrm>
            <a:off x="457200" y="6496050"/>
            <a:ext cx="7239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00">
                <a:solidFill>
                  <a:srgbClr val="8A8176"/>
                </a:solidFill>
                <a:latin typeface="Arial"/>
                <a:ea typeface="Arial"/>
                <a:cs typeface="Arial"/>
                <a:sym typeface="Arial"/>
              </a:rPr>
              <a:t>Nguồn: Báo cáo đề tài website mua bán đồ gốm sứ qua sử dụng</a:t>
            </a:r>
            <a:endParaRPr/>
          </a:p>
        </p:txBody>
      </p:sp>
      <p:sp>
        <p:nvSpPr>
          <p:cNvPr id="205" name="Google Shape;205;p9"/>
          <p:cNvSpPr/>
          <p:nvPr/>
        </p:nvSpPr>
        <p:spPr>
          <a:xfrm>
            <a:off x="11315700" y="6457950"/>
            <a:ext cx="428625"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8A8176"/>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210" name="Shape 210"/>
        <p:cNvGrpSpPr/>
        <p:nvPr/>
      </p:nvGrpSpPr>
      <p:grpSpPr>
        <a:xfrm>
          <a:off x="0" y="0"/>
          <a:ext cx="0" cy="0"/>
          <a:chOff x="0" y="0"/>
          <a:chExt cx="0" cy="0"/>
        </a:xfrm>
      </p:grpSpPr>
      <p:sp>
        <p:nvSpPr>
          <p:cNvPr id="211" name="Google Shape;211;p10"/>
          <p:cNvSpPr/>
          <p:nvPr/>
        </p:nvSpPr>
        <p:spPr>
          <a:xfrm>
            <a:off x="457200" y="381000"/>
            <a:ext cx="3429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50">
                <a:solidFill>
                  <a:srgbClr val="254F45"/>
                </a:solidFill>
                <a:latin typeface="Arial"/>
                <a:ea typeface="Arial"/>
                <a:cs typeface="Arial"/>
                <a:sym typeface="Arial"/>
              </a:rPr>
              <a:t>ERD</a:t>
            </a:r>
            <a:endParaRPr/>
          </a:p>
        </p:txBody>
      </p:sp>
      <p:sp>
        <p:nvSpPr>
          <p:cNvPr id="212" name="Google Shape;212;p10"/>
          <p:cNvSpPr/>
          <p:nvPr/>
        </p:nvSpPr>
        <p:spPr>
          <a:xfrm>
            <a:off x="457200" y="742950"/>
            <a:ext cx="7048500" cy="990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925">
                <a:solidFill>
                  <a:srgbClr val="1C1917"/>
                </a:solidFill>
                <a:latin typeface="Georgia"/>
                <a:ea typeface="Georgia"/>
                <a:cs typeface="Georgia"/>
                <a:sym typeface="Georgia"/>
              </a:rPr>
              <a:t>ERD kết nối 8 bảng lõi của hệ thống.</a:t>
            </a:r>
            <a:endParaRPr/>
          </a:p>
        </p:txBody>
      </p:sp>
      <p:pic>
        <p:nvPicPr>
          <p:cNvPr id="213" name="Google Shape;213;p10"/>
          <p:cNvPicPr preferRelativeResize="0"/>
          <p:nvPr/>
        </p:nvPicPr>
        <p:blipFill rotWithShape="1">
          <a:blip r:embed="rId3">
            <a:alphaModFix/>
          </a:blip>
          <a:srcRect b="0" l="0" r="0" t="0"/>
          <a:stretch/>
        </p:blipFill>
        <p:spPr>
          <a:xfrm>
            <a:off x="2728232" y="1476375"/>
            <a:ext cx="6735536" cy="4714875"/>
          </a:xfrm>
          <a:prstGeom prst="rect">
            <a:avLst/>
          </a:prstGeom>
          <a:noFill/>
          <a:ln>
            <a:noFill/>
          </a:ln>
        </p:spPr>
      </p:pic>
      <p:sp>
        <p:nvSpPr>
          <p:cNvPr id="214" name="Google Shape;214;p10"/>
          <p:cNvSpPr/>
          <p:nvPr/>
        </p:nvSpPr>
        <p:spPr>
          <a:xfrm>
            <a:off x="457200" y="6496050"/>
            <a:ext cx="7239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00">
                <a:solidFill>
                  <a:srgbClr val="8A8176"/>
                </a:solidFill>
                <a:latin typeface="Arial"/>
                <a:ea typeface="Arial"/>
                <a:cs typeface="Arial"/>
                <a:sym typeface="Arial"/>
              </a:rPr>
              <a:t>Proof object: ERD thiết kế database Supabase</a:t>
            </a:r>
            <a:endParaRPr/>
          </a:p>
        </p:txBody>
      </p:sp>
      <p:sp>
        <p:nvSpPr>
          <p:cNvPr id="215" name="Google Shape;215;p10"/>
          <p:cNvSpPr/>
          <p:nvPr/>
        </p:nvSpPr>
        <p:spPr>
          <a:xfrm>
            <a:off x="11315700" y="6457950"/>
            <a:ext cx="428625"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8A8176"/>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220" name="Shape 220"/>
        <p:cNvGrpSpPr/>
        <p:nvPr/>
      </p:nvGrpSpPr>
      <p:grpSpPr>
        <a:xfrm>
          <a:off x="0" y="0"/>
          <a:ext cx="0" cy="0"/>
          <a:chOff x="0" y="0"/>
          <a:chExt cx="0" cy="0"/>
        </a:xfrm>
      </p:grpSpPr>
      <p:sp>
        <p:nvSpPr>
          <p:cNvPr id="221" name="Google Shape;221;p11"/>
          <p:cNvSpPr/>
          <p:nvPr/>
        </p:nvSpPr>
        <p:spPr>
          <a:xfrm>
            <a:off x="457200" y="381000"/>
            <a:ext cx="3429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50">
                <a:solidFill>
                  <a:srgbClr val="254F45"/>
                </a:solidFill>
                <a:latin typeface="Arial"/>
                <a:ea typeface="Arial"/>
                <a:cs typeface="Arial"/>
                <a:sym typeface="Arial"/>
              </a:rPr>
              <a:t>KẾT QUẢ</a:t>
            </a:r>
            <a:endParaRPr/>
          </a:p>
        </p:txBody>
      </p:sp>
      <p:sp>
        <p:nvSpPr>
          <p:cNvPr id="222" name="Google Shape;222;p11"/>
          <p:cNvSpPr/>
          <p:nvPr/>
        </p:nvSpPr>
        <p:spPr>
          <a:xfrm>
            <a:off x="457200" y="742950"/>
            <a:ext cx="7048500" cy="990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925">
                <a:solidFill>
                  <a:srgbClr val="1C1917"/>
                </a:solidFill>
                <a:latin typeface="Georgia"/>
                <a:ea typeface="Georgia"/>
                <a:cs typeface="Georgia"/>
                <a:sym typeface="Georgia"/>
              </a:rPr>
              <a:t>Prototype đáp ứng mục tiêu nền tảng: đủ route, đủ schema, có kiểm thử kỹ thuật.</a:t>
            </a:r>
            <a:endParaRPr/>
          </a:p>
        </p:txBody>
      </p:sp>
      <p:sp>
        <p:nvSpPr>
          <p:cNvPr id="223" name="Google Shape;223;p11"/>
          <p:cNvSpPr/>
          <p:nvPr/>
        </p:nvSpPr>
        <p:spPr>
          <a:xfrm>
            <a:off x="762000" y="2000250"/>
            <a:ext cx="10668000" cy="628650"/>
          </a:xfrm>
          <a:prstGeom prst="roundRect">
            <a:avLst>
              <a:gd fmla="val 21212" name="adj"/>
            </a:avLst>
          </a:prstGeom>
          <a:solidFill>
            <a:srgbClr val="FFFFF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p:nvPr/>
        </p:nvSpPr>
        <p:spPr>
          <a:xfrm>
            <a:off x="1047750" y="2162175"/>
            <a:ext cx="29527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75">
                <a:solidFill>
                  <a:srgbClr val="1C1917"/>
                </a:solidFill>
                <a:latin typeface="Arial"/>
                <a:ea typeface="Arial"/>
                <a:cs typeface="Arial"/>
                <a:sym typeface="Arial"/>
              </a:rPr>
              <a:t>Frontend theo sitemap</a:t>
            </a:r>
            <a:endParaRPr/>
          </a:p>
        </p:txBody>
      </p:sp>
      <p:sp>
        <p:nvSpPr>
          <p:cNvPr id="225" name="Google Shape;225;p11"/>
          <p:cNvSpPr/>
          <p:nvPr/>
        </p:nvSpPr>
        <p:spPr>
          <a:xfrm>
            <a:off x="4333875" y="2133600"/>
            <a:ext cx="1123950" cy="361950"/>
          </a:xfrm>
          <a:prstGeom prst="roundRect">
            <a:avLst>
              <a:gd fmla="val 50000" name="adj"/>
            </a:avLst>
          </a:prstGeom>
          <a:solidFill>
            <a:srgbClr val="254F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a:off x="4333875" y="2209800"/>
            <a:ext cx="112395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125">
                <a:solidFill>
                  <a:srgbClr val="FFFFFF"/>
                </a:solidFill>
                <a:latin typeface="Arial"/>
                <a:ea typeface="Arial"/>
                <a:cs typeface="Arial"/>
                <a:sym typeface="Arial"/>
              </a:rPr>
              <a:t>Đạt</a:t>
            </a:r>
            <a:endParaRPr/>
          </a:p>
        </p:txBody>
      </p:sp>
      <p:sp>
        <p:nvSpPr>
          <p:cNvPr id="227" name="Google Shape;227;p11"/>
          <p:cNvSpPr/>
          <p:nvPr/>
        </p:nvSpPr>
        <p:spPr>
          <a:xfrm>
            <a:off x="5810250" y="2171700"/>
            <a:ext cx="51435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25">
                <a:solidFill>
                  <a:srgbClr val="78716C"/>
                </a:solidFill>
                <a:latin typeface="Arial"/>
                <a:ea typeface="Arial"/>
                <a:cs typeface="Arial"/>
                <a:sym typeface="Arial"/>
              </a:rPr>
              <a:t>Public, tài khoản, mua hàng, blog và admin</a:t>
            </a:r>
            <a:endParaRPr/>
          </a:p>
        </p:txBody>
      </p:sp>
      <p:sp>
        <p:nvSpPr>
          <p:cNvPr id="228" name="Google Shape;228;p11"/>
          <p:cNvSpPr/>
          <p:nvPr/>
        </p:nvSpPr>
        <p:spPr>
          <a:xfrm>
            <a:off x="762000" y="2876550"/>
            <a:ext cx="10668000" cy="628650"/>
          </a:xfrm>
          <a:prstGeom prst="roundRect">
            <a:avLst>
              <a:gd fmla="val 21212" name="adj"/>
            </a:avLst>
          </a:prstGeom>
          <a:solidFill>
            <a:srgbClr val="FFFFF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p:nvPr/>
        </p:nvSpPr>
        <p:spPr>
          <a:xfrm>
            <a:off x="1047750" y="3038475"/>
            <a:ext cx="29527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75">
                <a:solidFill>
                  <a:srgbClr val="1C1917"/>
                </a:solidFill>
                <a:latin typeface="Arial"/>
                <a:ea typeface="Arial"/>
                <a:cs typeface="Arial"/>
                <a:sym typeface="Arial"/>
              </a:rPr>
              <a:t>Database Supabase</a:t>
            </a:r>
            <a:endParaRPr/>
          </a:p>
        </p:txBody>
      </p:sp>
      <p:sp>
        <p:nvSpPr>
          <p:cNvPr id="230" name="Google Shape;230;p11"/>
          <p:cNvSpPr/>
          <p:nvPr/>
        </p:nvSpPr>
        <p:spPr>
          <a:xfrm>
            <a:off x="4333875" y="3009900"/>
            <a:ext cx="1123950" cy="361950"/>
          </a:xfrm>
          <a:prstGeom prst="roundRect">
            <a:avLst>
              <a:gd fmla="val 50000" name="adj"/>
            </a:avLst>
          </a:prstGeom>
          <a:solidFill>
            <a:srgbClr val="254F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a:off x="4333875" y="3086100"/>
            <a:ext cx="112395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125">
                <a:solidFill>
                  <a:srgbClr val="FFFFFF"/>
                </a:solidFill>
                <a:latin typeface="Arial"/>
                <a:ea typeface="Arial"/>
                <a:cs typeface="Arial"/>
                <a:sym typeface="Arial"/>
              </a:rPr>
              <a:t>Đạt</a:t>
            </a:r>
            <a:endParaRPr/>
          </a:p>
        </p:txBody>
      </p:sp>
      <p:sp>
        <p:nvSpPr>
          <p:cNvPr id="232" name="Google Shape;232;p11"/>
          <p:cNvSpPr/>
          <p:nvPr/>
        </p:nvSpPr>
        <p:spPr>
          <a:xfrm>
            <a:off x="5810250" y="3048000"/>
            <a:ext cx="51435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25">
                <a:solidFill>
                  <a:srgbClr val="78716C"/>
                </a:solidFill>
                <a:latin typeface="Arial"/>
                <a:ea typeface="Arial"/>
                <a:cs typeface="Arial"/>
                <a:sym typeface="Arial"/>
              </a:rPr>
              <a:t>8 bảng lõi, khóa ngoại, enum, RLS, dữ liệu mẫu</a:t>
            </a:r>
            <a:endParaRPr/>
          </a:p>
        </p:txBody>
      </p:sp>
      <p:sp>
        <p:nvSpPr>
          <p:cNvPr id="233" name="Google Shape;233;p11"/>
          <p:cNvSpPr/>
          <p:nvPr/>
        </p:nvSpPr>
        <p:spPr>
          <a:xfrm>
            <a:off x="762000" y="3752850"/>
            <a:ext cx="10668000" cy="628650"/>
          </a:xfrm>
          <a:prstGeom prst="roundRect">
            <a:avLst>
              <a:gd fmla="val 21212" name="adj"/>
            </a:avLst>
          </a:prstGeom>
          <a:solidFill>
            <a:srgbClr val="FFFFF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a:off x="1047750" y="3914775"/>
            <a:ext cx="29527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75">
                <a:solidFill>
                  <a:srgbClr val="1C1917"/>
                </a:solidFill>
                <a:latin typeface="Arial"/>
                <a:ea typeface="Arial"/>
                <a:cs typeface="Arial"/>
                <a:sym typeface="Arial"/>
              </a:rPr>
              <a:t>Lint / TypeScript</a:t>
            </a:r>
            <a:endParaRPr/>
          </a:p>
        </p:txBody>
      </p:sp>
      <p:sp>
        <p:nvSpPr>
          <p:cNvPr id="235" name="Google Shape;235;p11"/>
          <p:cNvSpPr/>
          <p:nvPr/>
        </p:nvSpPr>
        <p:spPr>
          <a:xfrm>
            <a:off x="4333875" y="3886200"/>
            <a:ext cx="1123950" cy="361950"/>
          </a:xfrm>
          <a:prstGeom prst="roundRect">
            <a:avLst>
              <a:gd fmla="val 50000" name="adj"/>
            </a:avLst>
          </a:prstGeom>
          <a:solidFill>
            <a:srgbClr val="254F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4333875" y="3962400"/>
            <a:ext cx="112395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125">
                <a:solidFill>
                  <a:srgbClr val="FFFFFF"/>
                </a:solidFill>
                <a:latin typeface="Arial"/>
                <a:ea typeface="Arial"/>
                <a:cs typeface="Arial"/>
                <a:sym typeface="Arial"/>
              </a:rPr>
              <a:t>Đạt</a:t>
            </a:r>
            <a:endParaRPr/>
          </a:p>
        </p:txBody>
      </p:sp>
      <p:sp>
        <p:nvSpPr>
          <p:cNvPr id="237" name="Google Shape;237;p11"/>
          <p:cNvSpPr/>
          <p:nvPr/>
        </p:nvSpPr>
        <p:spPr>
          <a:xfrm>
            <a:off x="5810250" y="3924300"/>
            <a:ext cx="51435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25">
                <a:solidFill>
                  <a:srgbClr val="78716C"/>
                </a:solidFill>
                <a:latin typeface="Arial"/>
                <a:ea typeface="Arial"/>
                <a:cs typeface="Arial"/>
                <a:sym typeface="Arial"/>
              </a:rPr>
              <a:t>Kiểm tra cú pháp, định dạng và kiểu dữ liệu</a:t>
            </a:r>
            <a:endParaRPr/>
          </a:p>
        </p:txBody>
      </p:sp>
      <p:sp>
        <p:nvSpPr>
          <p:cNvPr id="238" name="Google Shape;238;p11"/>
          <p:cNvSpPr/>
          <p:nvPr/>
        </p:nvSpPr>
        <p:spPr>
          <a:xfrm>
            <a:off x="762000" y="4629150"/>
            <a:ext cx="10668000" cy="628650"/>
          </a:xfrm>
          <a:prstGeom prst="roundRect">
            <a:avLst>
              <a:gd fmla="val 21212" name="adj"/>
            </a:avLst>
          </a:prstGeom>
          <a:solidFill>
            <a:srgbClr val="FFFFFF"/>
          </a:solidFill>
          <a:ln cap="flat" cmpd="sng" w="9525">
            <a:solidFill>
              <a:srgbClr val="DED7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a:off x="1047750" y="4791075"/>
            <a:ext cx="29527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75">
                <a:solidFill>
                  <a:srgbClr val="1C1917"/>
                </a:solidFill>
                <a:latin typeface="Arial"/>
                <a:ea typeface="Arial"/>
                <a:cs typeface="Arial"/>
                <a:sym typeface="Arial"/>
              </a:rPr>
              <a:t>Build production</a:t>
            </a:r>
            <a:endParaRPr/>
          </a:p>
        </p:txBody>
      </p:sp>
      <p:sp>
        <p:nvSpPr>
          <p:cNvPr id="240" name="Google Shape;240;p11"/>
          <p:cNvSpPr/>
          <p:nvPr/>
        </p:nvSpPr>
        <p:spPr>
          <a:xfrm>
            <a:off x="4333875" y="4762500"/>
            <a:ext cx="1123950" cy="3619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4333875" y="4838700"/>
            <a:ext cx="112395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125">
                <a:solidFill>
                  <a:srgbClr val="FFFFFF"/>
                </a:solidFill>
                <a:latin typeface="Arial"/>
                <a:ea typeface="Arial"/>
                <a:cs typeface="Arial"/>
                <a:sym typeface="Arial"/>
              </a:rPr>
              <a:t>Giới hạn</a:t>
            </a:r>
            <a:endParaRPr/>
          </a:p>
        </p:txBody>
      </p:sp>
      <p:sp>
        <p:nvSpPr>
          <p:cNvPr id="242" name="Google Shape;242;p11"/>
          <p:cNvSpPr/>
          <p:nvPr/>
        </p:nvSpPr>
        <p:spPr>
          <a:xfrm>
            <a:off x="5810250" y="4800600"/>
            <a:ext cx="51435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25">
                <a:solidFill>
                  <a:srgbClr val="78716C"/>
                </a:solidFill>
                <a:latin typeface="Arial"/>
                <a:ea typeface="Arial"/>
                <a:cs typeface="Arial"/>
                <a:sym typeface="Arial"/>
              </a:rPr>
              <a:t>Sandbox chặn bind port trong môi trường hiện tại</a:t>
            </a:r>
            <a:endParaRPr/>
          </a:p>
        </p:txBody>
      </p:sp>
      <p:sp>
        <p:nvSpPr>
          <p:cNvPr id="243" name="Google Shape;243;p11"/>
          <p:cNvSpPr/>
          <p:nvPr/>
        </p:nvSpPr>
        <p:spPr>
          <a:xfrm>
            <a:off x="457200" y="6496050"/>
            <a:ext cx="7239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00">
                <a:solidFill>
                  <a:srgbClr val="8A8176"/>
                </a:solidFill>
                <a:latin typeface="Arial"/>
                <a:ea typeface="Arial"/>
                <a:cs typeface="Arial"/>
                <a:sym typeface="Arial"/>
              </a:rPr>
              <a:t>Nguồn: Báo cáo đề tài website mua bán đồ gốm sứ qua sử dụng</a:t>
            </a:r>
            <a:endParaRPr/>
          </a:p>
        </p:txBody>
      </p:sp>
      <p:sp>
        <p:nvSpPr>
          <p:cNvPr id="244" name="Google Shape;244;p11"/>
          <p:cNvSpPr/>
          <p:nvPr/>
        </p:nvSpPr>
        <p:spPr>
          <a:xfrm>
            <a:off x="11315700" y="6457950"/>
            <a:ext cx="428625"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8A8176"/>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31F"/>
        </a:solidFill>
      </p:bgPr>
    </p:bg>
    <p:spTree>
      <p:nvGrpSpPr>
        <p:cNvPr id="249" name="Shape 249"/>
        <p:cNvGrpSpPr/>
        <p:nvPr/>
      </p:nvGrpSpPr>
      <p:grpSpPr>
        <a:xfrm>
          <a:off x="0" y="0"/>
          <a:ext cx="0" cy="0"/>
          <a:chOff x="0" y="0"/>
          <a:chExt cx="0" cy="0"/>
        </a:xfrm>
      </p:grpSpPr>
      <p:sp>
        <p:nvSpPr>
          <p:cNvPr id="250" name="Google Shape;250;p12"/>
          <p:cNvSpPr/>
          <p:nvPr/>
        </p:nvSpPr>
        <p:spPr>
          <a:xfrm>
            <a:off x="552450" y="438150"/>
            <a:ext cx="1905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50">
                <a:solidFill>
                  <a:srgbClr val="B7D9C9"/>
                </a:solidFill>
                <a:latin typeface="Arial"/>
                <a:ea typeface="Arial"/>
                <a:cs typeface="Arial"/>
                <a:sym typeface="Arial"/>
              </a:rPr>
              <a:t>KẾT LUẬN</a:t>
            </a:r>
            <a:endParaRPr/>
          </a:p>
        </p:txBody>
      </p:sp>
      <p:sp>
        <p:nvSpPr>
          <p:cNvPr id="251" name="Google Shape;251;p12"/>
          <p:cNvSpPr/>
          <p:nvPr/>
        </p:nvSpPr>
        <p:spPr>
          <a:xfrm>
            <a:off x="552450" y="895350"/>
            <a:ext cx="781050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150">
                <a:solidFill>
                  <a:srgbClr val="FFFFFF"/>
                </a:solidFill>
                <a:latin typeface="Georgia"/>
                <a:ea typeface="Georgia"/>
                <a:cs typeface="Georgia"/>
                <a:sym typeface="Georgia"/>
              </a:rPr>
              <a:t>Đề tài đã tạo được nền tảng để phát triển thành website kinh doanh gốm sứ cũ thực tế.</a:t>
            </a:r>
            <a:endParaRPr/>
          </a:p>
        </p:txBody>
      </p:sp>
      <p:sp>
        <p:nvSpPr>
          <p:cNvPr id="252" name="Google Shape;252;p12"/>
          <p:cNvSpPr/>
          <p:nvPr/>
        </p:nvSpPr>
        <p:spPr>
          <a:xfrm>
            <a:off x="685800" y="2952750"/>
            <a:ext cx="2286000" cy="1762125"/>
          </a:xfrm>
          <a:prstGeom prst="roundRect">
            <a:avLst>
              <a:gd fmla="val 9730" name="adj"/>
            </a:avLst>
          </a:prstGeom>
          <a:solidFill>
            <a:srgbClr val="1F4038"/>
          </a:solidFill>
          <a:ln cap="flat" cmpd="sng" w="9525">
            <a:solidFill>
              <a:srgbClr val="426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
          <p:cNvSpPr/>
          <p:nvPr/>
        </p:nvSpPr>
        <p:spPr>
          <a:xfrm>
            <a:off x="876300" y="3143250"/>
            <a:ext cx="400050" cy="4000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2"/>
          <p:cNvSpPr/>
          <p:nvPr/>
        </p:nvSpPr>
        <p:spPr>
          <a:xfrm>
            <a:off x="876300" y="3238500"/>
            <a:ext cx="400050" cy="171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75">
                <a:solidFill>
                  <a:srgbClr val="FFFFFF"/>
                </a:solidFill>
                <a:latin typeface="Arial"/>
                <a:ea typeface="Arial"/>
                <a:cs typeface="Arial"/>
                <a:sym typeface="Arial"/>
              </a:rPr>
              <a:t>1</a:t>
            </a:r>
            <a:endParaRPr/>
          </a:p>
        </p:txBody>
      </p:sp>
      <p:sp>
        <p:nvSpPr>
          <p:cNvPr id="255" name="Google Shape;255;p12"/>
          <p:cNvSpPr/>
          <p:nvPr/>
        </p:nvSpPr>
        <p:spPr>
          <a:xfrm>
            <a:off x="876300" y="3733800"/>
            <a:ext cx="18097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50">
                <a:solidFill>
                  <a:srgbClr val="FFFFFF"/>
                </a:solidFill>
                <a:latin typeface="Arial"/>
                <a:ea typeface="Arial"/>
                <a:cs typeface="Arial"/>
                <a:sym typeface="Arial"/>
              </a:rPr>
              <a:t>Kết nối dữ liệu thật</a:t>
            </a:r>
            <a:endParaRPr/>
          </a:p>
        </p:txBody>
      </p:sp>
      <p:sp>
        <p:nvSpPr>
          <p:cNvPr id="256" name="Google Shape;256;p12"/>
          <p:cNvSpPr/>
          <p:nvPr/>
        </p:nvSpPr>
        <p:spPr>
          <a:xfrm>
            <a:off x="876300" y="4305300"/>
            <a:ext cx="180975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25">
                <a:solidFill>
                  <a:srgbClr val="D6E8E0"/>
                </a:solidFill>
                <a:latin typeface="Arial"/>
                <a:ea typeface="Arial"/>
                <a:cs typeface="Arial"/>
                <a:sym typeface="Arial"/>
              </a:rPr>
              <a:t>Frontend gọi Supabase/API server-side</a:t>
            </a:r>
            <a:endParaRPr/>
          </a:p>
        </p:txBody>
      </p:sp>
      <p:sp>
        <p:nvSpPr>
          <p:cNvPr id="257" name="Google Shape;257;p12"/>
          <p:cNvSpPr/>
          <p:nvPr/>
        </p:nvSpPr>
        <p:spPr>
          <a:xfrm>
            <a:off x="3467100" y="2952750"/>
            <a:ext cx="2286000" cy="1762125"/>
          </a:xfrm>
          <a:prstGeom prst="roundRect">
            <a:avLst>
              <a:gd fmla="val 9730" name="adj"/>
            </a:avLst>
          </a:prstGeom>
          <a:solidFill>
            <a:srgbClr val="17352F"/>
          </a:solidFill>
          <a:ln cap="flat" cmpd="sng" w="9525">
            <a:solidFill>
              <a:srgbClr val="426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2"/>
          <p:cNvSpPr/>
          <p:nvPr/>
        </p:nvSpPr>
        <p:spPr>
          <a:xfrm>
            <a:off x="3657600" y="3143250"/>
            <a:ext cx="400050" cy="4000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2"/>
          <p:cNvSpPr/>
          <p:nvPr/>
        </p:nvSpPr>
        <p:spPr>
          <a:xfrm>
            <a:off x="3657600" y="3238500"/>
            <a:ext cx="400050" cy="171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75">
                <a:solidFill>
                  <a:srgbClr val="FFFFFF"/>
                </a:solidFill>
                <a:latin typeface="Arial"/>
                <a:ea typeface="Arial"/>
                <a:cs typeface="Arial"/>
                <a:sym typeface="Arial"/>
              </a:rPr>
              <a:t>2</a:t>
            </a:r>
            <a:endParaRPr/>
          </a:p>
        </p:txBody>
      </p:sp>
      <p:sp>
        <p:nvSpPr>
          <p:cNvPr id="260" name="Google Shape;260;p12"/>
          <p:cNvSpPr/>
          <p:nvPr/>
        </p:nvSpPr>
        <p:spPr>
          <a:xfrm>
            <a:off x="3657600" y="3733800"/>
            <a:ext cx="18097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50">
                <a:solidFill>
                  <a:srgbClr val="FFFFFF"/>
                </a:solidFill>
                <a:latin typeface="Arial"/>
                <a:ea typeface="Arial"/>
                <a:cs typeface="Arial"/>
                <a:sym typeface="Arial"/>
              </a:rPr>
              <a:t>Hoàn thiện tài khoản</a:t>
            </a:r>
            <a:endParaRPr/>
          </a:p>
        </p:txBody>
      </p:sp>
      <p:sp>
        <p:nvSpPr>
          <p:cNvPr id="261" name="Google Shape;261;p12"/>
          <p:cNvSpPr/>
          <p:nvPr/>
        </p:nvSpPr>
        <p:spPr>
          <a:xfrm>
            <a:off x="3657600" y="4305300"/>
            <a:ext cx="180975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25">
                <a:solidFill>
                  <a:srgbClr val="D6E8E0"/>
                </a:solidFill>
                <a:latin typeface="Arial"/>
                <a:ea typeface="Arial"/>
                <a:cs typeface="Arial"/>
                <a:sym typeface="Arial"/>
              </a:rPr>
              <a:t>Đăng nhập, đăng ký, phân quyền admin</a:t>
            </a:r>
            <a:endParaRPr/>
          </a:p>
        </p:txBody>
      </p:sp>
      <p:sp>
        <p:nvSpPr>
          <p:cNvPr id="262" name="Google Shape;262;p12"/>
          <p:cNvSpPr/>
          <p:nvPr/>
        </p:nvSpPr>
        <p:spPr>
          <a:xfrm>
            <a:off x="6248400" y="2952750"/>
            <a:ext cx="2286000" cy="1762125"/>
          </a:xfrm>
          <a:prstGeom prst="roundRect">
            <a:avLst>
              <a:gd fmla="val 9730" name="adj"/>
            </a:avLst>
          </a:prstGeom>
          <a:solidFill>
            <a:srgbClr val="1F4038"/>
          </a:solidFill>
          <a:ln cap="flat" cmpd="sng" w="9525">
            <a:solidFill>
              <a:srgbClr val="426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2"/>
          <p:cNvSpPr/>
          <p:nvPr/>
        </p:nvSpPr>
        <p:spPr>
          <a:xfrm>
            <a:off x="6438900" y="3143250"/>
            <a:ext cx="400050" cy="4000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2"/>
          <p:cNvSpPr/>
          <p:nvPr/>
        </p:nvSpPr>
        <p:spPr>
          <a:xfrm>
            <a:off x="6438900" y="3238500"/>
            <a:ext cx="400050" cy="171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75">
                <a:solidFill>
                  <a:srgbClr val="FFFFFF"/>
                </a:solidFill>
                <a:latin typeface="Arial"/>
                <a:ea typeface="Arial"/>
                <a:cs typeface="Arial"/>
                <a:sym typeface="Arial"/>
              </a:rPr>
              <a:t>3</a:t>
            </a:r>
            <a:endParaRPr/>
          </a:p>
        </p:txBody>
      </p:sp>
      <p:sp>
        <p:nvSpPr>
          <p:cNvPr id="265" name="Google Shape;265;p12"/>
          <p:cNvSpPr/>
          <p:nvPr/>
        </p:nvSpPr>
        <p:spPr>
          <a:xfrm>
            <a:off x="6438900" y="3733800"/>
            <a:ext cx="18097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50">
                <a:solidFill>
                  <a:srgbClr val="FFFFFF"/>
                </a:solidFill>
                <a:latin typeface="Arial"/>
                <a:ea typeface="Arial"/>
                <a:cs typeface="Arial"/>
                <a:sym typeface="Arial"/>
              </a:rPr>
              <a:t>Thương mại thực tế</a:t>
            </a:r>
            <a:endParaRPr/>
          </a:p>
        </p:txBody>
      </p:sp>
      <p:sp>
        <p:nvSpPr>
          <p:cNvPr id="266" name="Google Shape;266;p12"/>
          <p:cNvSpPr/>
          <p:nvPr/>
        </p:nvSpPr>
        <p:spPr>
          <a:xfrm>
            <a:off x="6438900" y="4305300"/>
            <a:ext cx="180975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25">
                <a:solidFill>
                  <a:srgbClr val="D6E8E0"/>
                </a:solidFill>
                <a:latin typeface="Arial"/>
                <a:ea typeface="Arial"/>
                <a:cs typeface="Arial"/>
                <a:sym typeface="Arial"/>
              </a:rPr>
              <a:t>Thanh toán, vận chuyển, cập nhật tồn kho</a:t>
            </a:r>
            <a:endParaRPr/>
          </a:p>
        </p:txBody>
      </p:sp>
      <p:sp>
        <p:nvSpPr>
          <p:cNvPr id="267" name="Google Shape;267;p12"/>
          <p:cNvSpPr/>
          <p:nvPr/>
        </p:nvSpPr>
        <p:spPr>
          <a:xfrm>
            <a:off x="9029700" y="2952750"/>
            <a:ext cx="2286000" cy="1762125"/>
          </a:xfrm>
          <a:prstGeom prst="roundRect">
            <a:avLst>
              <a:gd fmla="val 9730" name="adj"/>
            </a:avLst>
          </a:prstGeom>
          <a:solidFill>
            <a:srgbClr val="17352F"/>
          </a:solidFill>
          <a:ln cap="flat" cmpd="sng" w="9525">
            <a:solidFill>
              <a:srgbClr val="426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9220200" y="3143250"/>
            <a:ext cx="400050" cy="400050"/>
          </a:xfrm>
          <a:prstGeom prst="roundRect">
            <a:avLst>
              <a:gd fmla="val 50000" name="adj"/>
            </a:avLst>
          </a:prstGeom>
          <a:solidFill>
            <a:srgbClr val="B46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2"/>
          <p:cNvSpPr/>
          <p:nvPr/>
        </p:nvSpPr>
        <p:spPr>
          <a:xfrm>
            <a:off x="9220200" y="3238500"/>
            <a:ext cx="400050" cy="171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75">
                <a:solidFill>
                  <a:srgbClr val="FFFFFF"/>
                </a:solidFill>
                <a:latin typeface="Arial"/>
                <a:ea typeface="Arial"/>
                <a:cs typeface="Arial"/>
                <a:sym typeface="Arial"/>
              </a:rPr>
              <a:t>4</a:t>
            </a:r>
            <a:endParaRPr/>
          </a:p>
        </p:txBody>
      </p:sp>
      <p:sp>
        <p:nvSpPr>
          <p:cNvPr id="270" name="Google Shape;270;p12"/>
          <p:cNvSpPr/>
          <p:nvPr/>
        </p:nvSpPr>
        <p:spPr>
          <a:xfrm>
            <a:off x="9220200" y="3733800"/>
            <a:ext cx="18097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50">
                <a:solidFill>
                  <a:srgbClr val="FFFFFF"/>
                </a:solidFill>
                <a:latin typeface="Arial"/>
                <a:ea typeface="Arial"/>
                <a:cs typeface="Arial"/>
                <a:sym typeface="Arial"/>
              </a:rPr>
              <a:t>Nâng cao trải nghiệm</a:t>
            </a:r>
            <a:endParaRPr/>
          </a:p>
        </p:txBody>
      </p:sp>
      <p:sp>
        <p:nvSpPr>
          <p:cNvPr id="271" name="Google Shape;271;p12"/>
          <p:cNvSpPr/>
          <p:nvPr/>
        </p:nvSpPr>
        <p:spPr>
          <a:xfrm>
            <a:off x="9220200" y="4305300"/>
            <a:ext cx="180975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25">
                <a:solidFill>
                  <a:srgbClr val="D6E8E0"/>
                </a:solidFill>
                <a:latin typeface="Arial"/>
                <a:ea typeface="Arial"/>
                <a:cs typeface="Arial"/>
                <a:sym typeface="Arial"/>
              </a:rPr>
              <a:t>Upload ảnh, SEO, mobile, đánh giá sản phẩm</a:t>
            </a:r>
            <a:endParaRPr/>
          </a:p>
        </p:txBody>
      </p:sp>
      <p:sp>
        <p:nvSpPr>
          <p:cNvPr id="272" name="Google Shape;272;p12"/>
          <p:cNvSpPr/>
          <p:nvPr/>
        </p:nvSpPr>
        <p:spPr>
          <a:xfrm>
            <a:off x="552450" y="5810250"/>
            <a:ext cx="57150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00">
                <a:solidFill>
                  <a:srgbClr val="D6E8E0"/>
                </a:solidFill>
                <a:latin typeface="Arial"/>
                <a:ea typeface="Arial"/>
                <a:cs typeface="Arial"/>
                <a:sym typeface="Arial"/>
              </a:rPr>
              <a:t>Em xin chân thành cảm ơn thầy cô đã lắng nghe.</a:t>
            </a:r>
            <a:endParaRPr/>
          </a:p>
        </p:txBody>
      </p:sp>
      <p:sp>
        <p:nvSpPr>
          <p:cNvPr id="273" name="Google Shape;273;p12"/>
          <p:cNvSpPr/>
          <p:nvPr/>
        </p:nvSpPr>
        <p:spPr>
          <a:xfrm>
            <a:off x="11315700" y="6457950"/>
            <a:ext cx="428625"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B7D9C9"/>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eeb32519f1_0_0"/>
          <p:cNvSpPr txBox="1"/>
          <p:nvPr/>
        </p:nvSpPr>
        <p:spPr>
          <a:xfrm>
            <a:off x="2684700" y="1859600"/>
            <a:ext cx="68226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t>File thuyết tr</a:t>
            </a:r>
            <a:r>
              <a:rPr b="1" lang="en-US"/>
              <a:t>ình:</a:t>
            </a:r>
            <a:endParaRPr b="1"/>
          </a:p>
          <a:p>
            <a:pPr indent="0" lvl="0" marL="0" rtl="0" algn="ctr">
              <a:spcBef>
                <a:spcPts val="0"/>
              </a:spcBef>
              <a:spcAft>
                <a:spcPts val="0"/>
              </a:spcAft>
              <a:buNone/>
            </a:pPr>
            <a:r>
              <a:rPr b="1" lang="en-US" u="sng">
                <a:solidFill>
                  <a:schemeClr val="hlink"/>
                </a:solidFill>
                <a:hlinkClick r:id="rId3"/>
              </a:rPr>
              <a:t>https://drive.google.com/file/d/1GSfW5kQGxDD5l6QtZyf2jE37QKQcvAau/view</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